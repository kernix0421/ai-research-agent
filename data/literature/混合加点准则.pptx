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rels" ContentType="application/vnd.openxmlformats-package.relationships+xml"/>
  <Override PartName="/customXml/itemProps69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ustomXmlProps" Target="../customXml/itemProps69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customXml" Target="../customXml/item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4.xml"/><Relationship Id="rId2" Type="http://schemas.openxmlformats.org/officeDocument/2006/relationships/image" Target="../media/image1.png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5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68.xml"/><Relationship Id="rId4" Type="http://schemas.openxmlformats.org/officeDocument/2006/relationships/image" Target="../media/image4.png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2725420" y="230505"/>
            <a:ext cx="7692390" cy="530860"/>
          </a:xfrm>
        </p:spPr>
        <p:txBody>
          <a:bodyPr>
            <a:noAutofit/>
          </a:bodyPr>
          <a:p>
            <a:r>
              <a:rPr lang="zh-CN" altLang="zh-CN" sz="3600" b="1"/>
              <a:t>混合加点准则</a:t>
            </a:r>
            <a:r>
              <a:rPr lang="en-US" altLang="zh-CN" sz="3600" b="1"/>
              <a:t>——</a:t>
            </a:r>
            <a:r>
              <a:rPr lang="zh-CN" altLang="en-US" sz="3600" b="1"/>
              <a:t>加权组合策略</a:t>
            </a:r>
            <a:endParaRPr lang="zh-CN" altLang="en-US" sz="3600" b="1"/>
          </a:p>
        </p:txBody>
      </p:sp>
      <p:pic>
        <p:nvPicPr>
          <p:cNvPr id="4" name="F360BE8B-6686-4F3D-AEAF-501FE73E4058-1" descr="C:/Users/Administrator/AppData/Local/Temp/绘图1.png绘图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1725" y="1070610"/>
            <a:ext cx="1790700" cy="532320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876800" y="3286125"/>
            <a:ext cx="7233285" cy="3442335"/>
          </a:xfrm>
          <a:prstGeom prst="rect">
            <a:avLst/>
          </a:prstGeom>
        </p:spPr>
        <p:txBody>
          <a:bodyPr>
            <a:noAutofit/>
          </a:bodyPr>
          <a:p>
            <a:pPr>
              <a:spcAft>
                <a:spcPct val="60000"/>
              </a:spcAft>
            </a:pPr>
            <a:r>
              <a:rPr lang="zh-CN" altLang="en-US" sz="2400" b="1"/>
              <a:t>示例：</a:t>
            </a:r>
            <a:endParaRPr lang="zh-CN" altLang="en-US" sz="2400" b="1"/>
          </a:p>
          <a:p>
            <a:r>
              <a:rPr lang="zh-CN" altLang="en-US"/>
              <a:t>在优化一个复杂函数时，</a:t>
            </a:r>
            <a:endParaRPr lang="zh-CN" altLang="en-US"/>
          </a:p>
          <a:p>
            <a:r>
              <a:rPr lang="zh-CN" altLang="en-US"/>
              <a:t>初期权重为 </a:t>
            </a:r>
            <a:r>
              <a:rPr lang="en-US" altLang="zh-CN"/>
              <a:t>w1=0.6,w2=0.2,w3=0.2</a:t>
            </a:r>
            <a:r>
              <a:rPr lang="zh-CN" altLang="en-US"/>
              <a:t>，更多关注未知区域。</a:t>
            </a:r>
            <a:endParaRPr lang="zh-CN" altLang="en-US"/>
          </a:p>
          <a:p>
            <a:r>
              <a:rPr lang="zh-CN" altLang="en-US"/>
              <a:t>随着模型精度提高，调整为 </a:t>
            </a:r>
            <a:r>
              <a:rPr lang="en-US" altLang="zh-CN"/>
              <a:t>w1=0.2,w2=0.6,w3=0.2</a:t>
            </a:r>
            <a:r>
              <a:rPr lang="zh-CN" altLang="en-US"/>
              <a:t>，更多关注局部最优区域。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 A Robust Weighted Combination Forecasting Method Based on Forecast Model Filtering and Adaptive Variable Weight Determinatio</a:t>
            </a:r>
            <a:r>
              <a:rPr lang="zh-CN" altLang="en-US"/>
              <a:t>中选择了采用多准则的加权组合策略来平衡样本点，依据每个采样点的贡献动态调整其权重，优化了模型的准确性和采样效率。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137150" y="1070927"/>
            <a:ext cx="5080000" cy="829945"/>
          </a:xfrm>
          <a:prstGeom prst="rect">
            <a:avLst/>
          </a:prstGeom>
        </p:spPr>
        <p:txBody>
          <a:bodyPr>
            <a:spAutoFit/>
          </a:bodyPr>
          <a:p>
            <a:pPr marL="0" indent="0" algn="l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</a:rPr>
              <a:t>如：</a:t>
            </a:r>
            <a:r>
              <a:rPr lang="en-US" altLang="zh-CN" sz="160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</a:rPr>
              <a:t>f1(x)</a:t>
            </a:r>
            <a:r>
              <a:rPr lang="zh-CN" altLang="en-US" sz="160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</a:rPr>
              <a:t>：不确定性准则（预测方差）、</a:t>
            </a:r>
            <a:endParaRPr lang="zh-CN" altLang="en-US" sz="1600">
              <a:solidFill>
                <a:srgbClr val="19191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</a:rPr>
              <a:t>f2(x)</a:t>
            </a:r>
            <a:r>
              <a:rPr lang="zh-CN" altLang="en-US" sz="160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</a:rPr>
              <a:t>：目标开发准则（预测均值）、</a:t>
            </a:r>
            <a:endParaRPr lang="zh-CN" altLang="en-US" sz="1600">
              <a:solidFill>
                <a:srgbClr val="19191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</a:rPr>
              <a:t>f3(x)</a:t>
            </a:r>
            <a:r>
              <a:rPr lang="zh-CN" altLang="en-US" sz="160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</a:rPr>
              <a:t>：信息增益准则（熵减少量）</a:t>
            </a:r>
            <a:endParaRPr lang="zh-CN" altLang="en-US" sz="1600">
              <a:solidFill>
                <a:srgbClr val="19191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527550" y="2209483"/>
            <a:ext cx="5080000" cy="107632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</a:rPr>
              <a:t>根据优化目标调整权重 </a:t>
            </a:r>
            <a:r>
              <a:rPr lang="en-US" altLang="zh-CN" sz="160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</a:rPr>
              <a:t>w1,w2,w3</a:t>
            </a:r>
            <a:endParaRPr lang="en-US" altLang="zh-CN" sz="1600">
              <a:solidFill>
                <a:srgbClr val="19191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</a:rPr>
              <a:t>例如：</a:t>
            </a:r>
            <a:endParaRPr lang="zh-CN" altLang="en-US" sz="1600">
              <a:solidFill>
                <a:srgbClr val="19191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</a:rPr>
              <a:t>在探索早期，倾向不确定性：</a:t>
            </a:r>
            <a:r>
              <a:rPr lang="en-US" altLang="zh-CN" sz="160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</a:rPr>
              <a:t>w1&gt;w2,w3;</a:t>
            </a:r>
            <a:endParaRPr lang="en-US" altLang="zh-CN" sz="1600">
              <a:solidFill>
                <a:srgbClr val="19191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</a:rPr>
              <a:t>在优化后期，倾向于目标开发：</a:t>
            </a:r>
            <a:r>
              <a:rPr lang="en-US" altLang="zh-CN" sz="160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</a:rPr>
              <a:t>w2&gt;w1,w3</a:t>
            </a:r>
            <a:endParaRPr lang="en-US" altLang="zh-CN" sz="1600">
              <a:solidFill>
                <a:srgbClr val="19191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1" name="直接箭头连接符 10"/>
          <p:cNvCxnSpPr/>
          <p:nvPr/>
        </p:nvCxnSpPr>
        <p:spPr>
          <a:xfrm>
            <a:off x="4105275" y="1364615"/>
            <a:ext cx="942975" cy="419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>
            <a:off x="4162425" y="2539365"/>
            <a:ext cx="942975" cy="419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32500" y="608400"/>
            <a:ext cx="10969200" cy="705600"/>
          </a:xfrm>
        </p:spPr>
        <p:txBody>
          <a:bodyPr/>
          <a:p>
            <a:r>
              <a:rPr lang="zh-CN" altLang="en-US" b="1"/>
              <a:t>混合加点准则</a:t>
            </a:r>
            <a:r>
              <a:rPr lang="en-US" altLang="zh-CN" b="1"/>
              <a:t>——</a:t>
            </a:r>
            <a:r>
              <a:rPr lang="zh-CN" altLang="en-US" b="1"/>
              <a:t>分阶段策略</a:t>
            </a:r>
            <a:endParaRPr lang="zh-CN" altLang="en-US" b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9645" y="1654810"/>
            <a:ext cx="7412355" cy="605790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zh-CN" altLang="en-US"/>
              <a:t>以不确定性准则（如方差最大化）为主要目标，快速覆盖未知区域。</a:t>
            </a:r>
            <a:endParaRPr lang="zh-CN" altLang="en-US"/>
          </a:p>
        </p:txBody>
      </p:sp>
      <p:pic>
        <p:nvPicPr>
          <p:cNvPr id="4" name="F360BE8B-6686-4F3D-AEAF-501FE73E4058-2" descr="绘图1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8870" y="1654810"/>
            <a:ext cx="2778125" cy="476059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019040" y="3022600"/>
            <a:ext cx="8635365" cy="64516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8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</a:rPr>
              <a:t>使用期望改进（EI）或上置信界（UCB）策略，</a:t>
            </a:r>
            <a:endParaRPr lang="zh-CN" altLang="en-US" sz="1800" spc="150">
              <a:solidFill>
                <a:schemeClr val="tx1">
                  <a:lumMod val="65000"/>
                  <a:lumOff val="35000"/>
                </a:schemeClr>
              </a:solidFill>
              <a:uFillTx/>
            </a:endParaRPr>
          </a:p>
          <a:p>
            <a:r>
              <a:rPr lang="zh-CN" altLang="en-US" sz="18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</a:rPr>
              <a:t>在探索和开发之间找到平衡。</a:t>
            </a:r>
            <a:endParaRPr lang="zh-CN" altLang="en-US" sz="1800" spc="150">
              <a:solidFill>
                <a:schemeClr val="tx1">
                  <a:lumMod val="65000"/>
                  <a:lumOff val="35000"/>
                </a:schemeClr>
              </a:solidFill>
              <a:uFillTx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019040" y="4429760"/>
            <a:ext cx="5080000" cy="556260"/>
          </a:xfrm>
          <a:prstGeom prst="rect">
            <a:avLst/>
          </a:prstGeom>
        </p:spPr>
        <p:txBody>
          <a:bodyPr>
            <a:noAutofit/>
          </a:bodyPr>
          <a:p>
            <a:pPr algn="l">
              <a:buClrTx/>
              <a:buSzTx/>
              <a:buNone/>
            </a:pPr>
            <a:r>
              <a:rPr lang="zh-CN" altLang="en-US" sz="18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</a:rPr>
              <a:t>专注于目标优化（如预测均值最大化），</a:t>
            </a:r>
            <a:endParaRPr lang="zh-CN" altLang="en-US" sz="1800" spc="150">
              <a:solidFill>
                <a:schemeClr val="tx1">
                  <a:lumMod val="65000"/>
                  <a:lumOff val="35000"/>
                </a:schemeClr>
              </a:solidFill>
              <a:uFillTx/>
            </a:endParaRPr>
          </a:p>
          <a:p>
            <a:pPr algn="l">
              <a:buClrTx/>
              <a:buSzTx/>
              <a:buNone/>
            </a:pPr>
            <a:r>
              <a:rPr lang="zh-CN" altLang="en-US" sz="18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</a:rPr>
              <a:t>精确寻找全局最优解。</a:t>
            </a:r>
            <a:endParaRPr lang="zh-CN" altLang="en-US" sz="1800" spc="150">
              <a:solidFill>
                <a:schemeClr val="tx1">
                  <a:lumMod val="65000"/>
                  <a:lumOff val="35000"/>
                </a:schemeClr>
              </a:solidFill>
              <a:uFillTx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271645" y="4986020"/>
            <a:ext cx="7920355" cy="163639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Aft>
                <a:spcPct val="60000"/>
              </a:spcAft>
            </a:pPr>
            <a:r>
              <a:rPr lang="zh-CN" altLang="en-US" sz="20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示例：</a:t>
            </a:r>
            <a:endParaRPr lang="zh-CN" altLang="en-US" sz="20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在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Multi-Fidelity Adaptive Sampling for Surrogate-Based Optimization and Uncertainty Quantification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中：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 sz="1600"/>
              <a:t>提出了一种两步式多保真采样方法。第一阶段通过单一保真准则（如克里金模型）定位候选采样点；第二阶段根据成本和模型精度选择适当的保真度进行评估。</a:t>
            </a:r>
            <a:endParaRPr lang="zh-CN" altLang="en-US" sz="1600"/>
          </a:p>
        </p:txBody>
      </p:sp>
      <p:cxnSp>
        <p:nvCxnSpPr>
          <p:cNvPr id="11" name="直接箭头连接符 10"/>
          <p:cNvCxnSpPr/>
          <p:nvPr/>
        </p:nvCxnSpPr>
        <p:spPr>
          <a:xfrm>
            <a:off x="4105275" y="1925320"/>
            <a:ext cx="754380" cy="209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 flipV="1">
            <a:off x="4021455" y="3333750"/>
            <a:ext cx="838200" cy="4191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 flipV="1">
            <a:off x="4000500" y="4716780"/>
            <a:ext cx="942975" cy="9632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47030" y="147955"/>
            <a:ext cx="7784465" cy="705485"/>
          </a:xfrm>
        </p:spPr>
        <p:txBody>
          <a:bodyPr/>
          <a:p>
            <a:r>
              <a:rPr lang="zh-CN" altLang="en-US" sz="3200" b="1"/>
              <a:t>混合加点准则</a:t>
            </a:r>
            <a:r>
              <a:rPr lang="en-US" altLang="zh-CN" sz="3200" b="1"/>
              <a:t>——</a:t>
            </a:r>
            <a:r>
              <a:rPr lang="zh-CN" altLang="en-US" sz="3200" b="1"/>
              <a:t>独立生成采样点</a:t>
            </a:r>
            <a:endParaRPr lang="zh-CN" altLang="en-US" sz="3200" b="1"/>
          </a:p>
        </p:txBody>
      </p:sp>
      <p:pic>
        <p:nvPicPr>
          <p:cNvPr id="4" name="F360BE8B-6686-4F3D-AEAF-501FE73E4058-3" descr="C:/Users/Administrator/AppData/Local/Temp/绘图1(2).png绘图1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9880" y="118745"/>
            <a:ext cx="4992624" cy="6620256"/>
          </a:xfrm>
          <a:prstGeom prst="rect">
            <a:avLst/>
          </a:prstGeom>
        </p:spPr>
      </p:pic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6593205" y="1026478"/>
            <a:ext cx="5080000" cy="1076325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1600"/>
              <a:t>EIM</a:t>
            </a:r>
            <a:r>
              <a:rPr lang="zh-CN" altLang="en-US" sz="1600"/>
              <a:t>准则：</a:t>
            </a:r>
            <a:endParaRPr lang="zh-CN" altLang="en-US" sz="1600"/>
          </a:p>
          <a:p>
            <a:r>
              <a:rPr lang="zh-CN" altLang="en-US" sz="1600"/>
              <a:t>该准则利用非支配解集作为参考，通过最大化“期望改进矩阵（</a:t>
            </a:r>
            <a:r>
              <a:rPr lang="en-US" altLang="zh-CN" sz="1600"/>
              <a:t>EIM</a:t>
            </a:r>
            <a:r>
              <a:rPr lang="zh-CN" altLang="en-US" sz="1600"/>
              <a:t>）”的值来生成新的采样点，主要目标是</a:t>
            </a:r>
            <a:r>
              <a:rPr lang="zh-CN" altLang="en-US" sz="1600" b="1"/>
              <a:t>改善非支配解在目标空间的分布与收敛性。</a:t>
            </a:r>
            <a:endParaRPr lang="zh-CN" altLang="en-US" sz="1600" b="1"/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6593205" y="2276158"/>
            <a:ext cx="5080000" cy="1076325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1600"/>
              <a:t>ED</a:t>
            </a:r>
            <a:r>
              <a:rPr lang="zh-CN" altLang="en-US" sz="1600"/>
              <a:t>准则：</a:t>
            </a:r>
            <a:endParaRPr lang="zh-CN" altLang="en-US" sz="1600"/>
          </a:p>
          <a:p>
            <a:r>
              <a:rPr lang="zh-CN" altLang="en-US" sz="1600"/>
              <a:t>该准则通过计算非支配解之间的欧几里得距离，并基于最大距离对设计空间中的解点进行扰动生成新的采样点，主要目标是发掘设计空间中潜在的高质量区域。</a:t>
            </a:r>
            <a:endParaRPr lang="zh-CN" altLang="en-US" sz="1600"/>
          </a:p>
        </p:txBody>
      </p:sp>
      <p:sp>
        <p:nvSpPr>
          <p:cNvPr id="12" name="文本框 11"/>
          <p:cNvSpPr txBox="1"/>
          <p:nvPr/>
        </p:nvSpPr>
        <p:spPr>
          <a:xfrm>
            <a:off x="6593205" y="3720782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en-US" sz="1600"/>
              <a:t>通过筛选策略（</a:t>
            </a:r>
            <a:r>
              <a:rPr lang="en-US" altLang="zh-CN" sz="1600"/>
              <a:t>filter strategy</a:t>
            </a:r>
            <a:r>
              <a:rPr lang="zh-CN" altLang="en-US" sz="1600"/>
              <a:t>）处理两种准则可能产生的采样点重叠问题，确保采样点多样性和有效性。</a:t>
            </a:r>
            <a:endParaRPr lang="zh-CN" altLang="en-US" sz="1600"/>
          </a:p>
        </p:txBody>
      </p:sp>
      <p:cxnSp>
        <p:nvCxnSpPr>
          <p:cNvPr id="13" name="直接箭头连接符 12"/>
          <p:cNvCxnSpPr/>
          <p:nvPr/>
        </p:nvCxnSpPr>
        <p:spPr>
          <a:xfrm>
            <a:off x="5048250" y="811530"/>
            <a:ext cx="1340485" cy="5740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>
            <a:endCxn id="12" idx="1"/>
          </p:cNvCxnSpPr>
          <p:nvPr/>
        </p:nvCxnSpPr>
        <p:spPr>
          <a:xfrm flipV="1">
            <a:off x="5253355" y="4012565"/>
            <a:ext cx="1339850" cy="5111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endCxn id="6" idx="1"/>
          </p:cNvCxnSpPr>
          <p:nvPr/>
        </p:nvCxnSpPr>
        <p:spPr>
          <a:xfrm>
            <a:off x="5320665" y="1786255"/>
            <a:ext cx="1272540" cy="10280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6611620" y="4440872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en-US" sz="1600"/>
              <a:t>如果新生成的 </a:t>
            </a:r>
            <a:r>
              <a:rPr lang="en-US" altLang="zh-CN" sz="1600"/>
              <a:t>Xp </a:t>
            </a:r>
            <a:r>
              <a:rPr lang="zh-CN" altLang="en-US" sz="1600"/>
              <a:t>超出设计变量的范围，会通过以下方式将其拉回到合理范围：</a:t>
            </a:r>
            <a:endParaRPr lang="zh-CN" altLang="en-US" sz="1600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1105" y="5024120"/>
            <a:ext cx="3124200" cy="1073150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5855970" y="6050915"/>
            <a:ext cx="6336030" cy="82994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/>
              <a:t>通过对解空间进行随机或结构化的调整，生成新的解点。其目的是避免优化过程中的局部最优，增加解集的多样性，并帮助优化算法更广泛地探索搜索空间。本文选择了结构化绕动。</a:t>
            </a:r>
            <a:endParaRPr lang="zh-CN" altLang="en-US" sz="1600"/>
          </a:p>
        </p:txBody>
      </p:sp>
      <p:cxnSp>
        <p:nvCxnSpPr>
          <p:cNvPr id="22" name="曲线连接符 21"/>
          <p:cNvCxnSpPr/>
          <p:nvPr/>
        </p:nvCxnSpPr>
        <p:spPr>
          <a:xfrm flipV="1">
            <a:off x="2450465" y="5000625"/>
            <a:ext cx="3917315" cy="544195"/>
          </a:xfrm>
          <a:prstGeom prst="curvedConnector3">
            <a:avLst>
              <a:gd name="adj1" fmla="val 36958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" name="曲线连接符 2"/>
          <p:cNvCxnSpPr/>
          <p:nvPr/>
        </p:nvCxnSpPr>
        <p:spPr>
          <a:xfrm>
            <a:off x="1324610" y="6398260"/>
            <a:ext cx="4467860" cy="198755"/>
          </a:xfrm>
          <a:prstGeom prst="curvedConnector3">
            <a:avLst>
              <a:gd name="adj1" fmla="val 17808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5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DIAGRAM_VIRTUALLY_FRAME" val="{&quot;height&quot;:213.10740381392617,&quot;left&quot;:423.5129576828388,&quot;top&quot;:50.86759618607384,&quot;width&quot;:495.6370423171612}"/>
</p:tagLst>
</file>

<file path=ppt/tags/tag67.xml><?xml version="1.0" encoding="utf-8"?>
<p:tagLst xmlns:p="http://schemas.openxmlformats.org/presentationml/2006/main">
  <p:tag name="KSO_WM_DIAGRAM_VIRTUALLY_FRAME" val="{&quot;height&quot;:213.10740381392617,&quot;left&quot;:423.5129576828388,&quot;top&quot;:50.86759618607384,&quot;width&quot;:495.6370423171612}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F360BE8B-6686-4F3D-AEAF-501FE73E4058-1">
      <extobjdata type="F360BE8B-6686-4F3D-AEAF-501FE73E4058" data="ewoJIkZpbGVDb250ZW50IiA6ICJVRXNEQkJRQUFBQUlBTWFoZUZuTnh2S3Fyd0VBQVBrREFBQU1BQUFBWkc5amRXMWxiblF1ZUcxc2haUGRUNnN3R01idlQzTCtoNmIzekJiWkJnc2NNNWxmeVR3YThlTzYwaGZXREZwVGlrZGovTjl0OFdSek9DSVhCSjdmdzlQbWVVdDg5RkpYNkJsMEk1Uk1NQjBSakVEbWlndFpKcmcxaFJmaW96Ky9mOFVMbGJjMVNJUHN3MWtyZUlMZkhpTXlKWWM4OHNMeEkvV0N5Sjk2SVV3Q0w1b1F5cUFJU1ZCRTd4aGRaUWwrRUJLais4MHEvb2lNUW14amtiMWNkS3BrSWNyL1FpZG1xbXFOZGFQN0JJOEp4UWM5ZU1tYXRXTmtsOXc5Y1diZ21wWHdsOVhnREtmelpYYlMrM3lsL3AxcHdSMit2Ym5iUTIvYUN2UXdkZ1ZBSlNRTVc5d1dqald3OVg3TGxTN25yVkZMOXFwYXM5OVMxejg3bGlwZnA1OGxmY2NYcFZRYUZsQ2swbVRtdFJxcVkrTTdWZElNZUU0cXlJMFdPYXRTclpwbUU3ZXRQejdvenpIT2pEMUtvbXAydXZuVTBEVXpxd1Q3MDBtdnVoMGNmRW52aGNYejNJam5idElYa3NOTGJ6Tk9iNXkyUFRueDRrbjBsQ3pYQVBKQmNMUHF5Q1FrZlhnT29seDFyVkF5L3JwQXhVeWhkTzBJaDJhOUphbWR1Z0crc0RjSGZlSUhIcVdlSHlBYXpjYlRHUWw3WHRXZHREbXZoUlNOMFU3WU9pN3RyMWlJdlhFK21kRmdSZysvbVFmeXVnbDFQN0Y5K1FCUVN3TUVGQUFBQUFnQXhxRjRXVi8vcVpjN0RBQUEzbThBQUE4QUFBQndZV2RsY3k5d1lXZGxNUzU0Yld6dFhldHZHOGNSLzE2Zy84T0JBUXE3amNsNzhvRlNEZlFnSlJXU3pJcVVMUFhiaVR4UkZ4M3YyT05Ka2ZySmpWdmJhV29nUUYyNE1SS2dCbExVUlFHbkJXb1VRWnYrTmFGay9SZlp4OTNlYSs5NHg0ZE1KYWQ4TU85bWRuWm1kbmYyTjdOTHB2cmVXVTlqVGhWem9CcjZRbzdMc3psRzBkdEdSOVc3QzdtZFZ2MU9PZmZlejM3NGcycEQ3aXJNK2dwZ1lRRkw2N3l2TE9UZ3V4eXpKZmZBNTZzWHIrOXdPZWFYaHRFRFBEbG1SMWV0aFZ5dmwyTWFwdEtRKzRxNWtBTU1RQlFEL3BDNGhtbjBCL1lMOVBLZTJyR09tRjNRbnVQNXZNVG5DbDdxbXFKMmp5eElMbFdFZklubC9HVFlJUkhBYzJ5WTZncmdLeVUvR2FxelpDcnljYndLaEcyRUxnM0R0RXhaUlF6MXhZMW16VTllUExHTXB2cHJCWkpiMnp1MWlFNDJsRU1rZ1kyZ3Q0eCtISG5iVVRHb25NT3daRmlXMGFOd05OdW1vV2w3U0hoZW90SDJNVTNrZVk0TE5GNDExYzZTMGxYMVBZcHloTGhQSWQ0MXV5dXFxYlF0TUJYOVdsVUx3ZmxTM1pEUGpSUEwyL3puSjczK3B0RlJLQVpCVXRNNjF4UktyNGhtRDBiUlQ5bzY2UjFzS0tlS1Jtblc2MjNLN3hzbW1rMWhrcXBqVW5BYUFoTjNGWE5GSFZpMGhvQzZab3lnTGc0R2tGZ09ySTErc3kxajh5UTJTQUlMc0ExazJsNWw4eUVHMENQeEhPdHh1cy9Ic1ArNnFtZ2R5SzNKNTB6enlQaWdjV1JZaGpQSG1TMDBxOGtqSWphTUFSVEtvSVVGSEFLc1l2RHFBZTVtYmFZTlZWY2N4cFp5WmdFZldTb3d5QkVWY0FOU0EvVnZyeDhjbUp4UU5QemJINGVmUE1GUE93czUrRStPcVd0eUY4dFhMVTJoQ0ViQ2QyWHRCTGtCQkxDRlhMTzE3WE1WWXFrYnVzWFU1WjZxblMva05sV3dIQVlHV0tmN01yQXF4MkFIZ0dGbmxnM05BREh2SFJIOStWMWVjSXhJWkJoUERQdmkzMjllUENXR0lVdHV0R1ZGc25zOGVIbjE3Q1d4YkVYcHk2YlZVM1RyQnBwbnozNW9YOG14cjlhVFZZMllaei9kWk12S1pFNys1Ni9mZlAzWjVkUFhiNzc4bkJoNEQ2eHFmZDZucHZ2Q2ptakJRRGNna2JDdWFscmRNSHV5WlNPZkxXZ2VJUyt0MWsyajF6cFNlb0hOcDlvd1ZkMXFLdFpKbjZtcllMZHRIaW1LUlJ4cGd5WFdEWThRdDVEd0NGR0tCMGRCT0xBcG0yRHp4TGFpL2QzN0F1QUI3eVBlM2oxdmlGWWdyZ1BBNS9VTmVtT1A2SnNIZjdqNDlFc1NVOWYxVTNXZ0hyakR4MndZN1dObkZTTURuWWRGc0hXZnVueExjdnU0YXhvbmVzZGhhT3B5bndaNXZOMFAvL1VoQkpKMjRJdnEzZGxpYU4zakoyL3ZOamVsZTdUSnVjNm80a0dFblF0dWNMci8vUExwUzk4bWhOalFaRU9ic2VBM0IxRnJoNGNBeWtDeVVLU1E0VGFIaUJUYXNxSHJvQzBXTG9rZVpSSFplZHJjZExVVjRZU1FWZjBBcmxQVzBYeFh0V1JOdGM1amRCZExzYnFMYkl6dVZHTHpDSUQ5QUxWYXNIVjFuakVUWGt2b3N6M2RBSkJtMElDUVhROUVCSUQ3MnNwZzRCaDE4Zm8zbHk4LzlwdGt5dnJnRUN6UVlOeHc0VHd2QnBBc29yczRYaXJTNkl0Nmx3WWFFVzIxWVdOY0Njam1LWTBod3o1R2dTQkhvRENBcWV6SUtQSlFCTE9ORVRlekdZU3dIbjRra2k4SCtYbEsxTlRVUGdXRkV4b05oQmRvdnF3aUZMd2lXM0pJSmZWZ3ZZTkdtOUlGQ0lvUmRMRHNLQktyeXcwRHJPZEJVQkIrYlE5L3crSkliTUlUaUEzdUtLaFJoT0dJbHR5RkJkejNDSTE0RXE5R2FwUmtvRjBkS1FPWFRDTUJheVFrMEFndkRhZ1JOMUtmS2ZwTXhCcUtVL2NaV3NtdU9Za1VkRjc1TnNWTmRkQU9OcjE3OEQ2SWpGQmo1STdBcEE2MHFOWk9GY3AwUm05WFRDZDdaK3JoUlJocWlDT21qVUYrY2FLMmp6ZmxBZGdISlM0RXAwSmdwV2xvYW9mcVhiSUx2SE5vLzFHYzVjb0xMMzVkb1ZJSTlaNUNMMEw0bUpabDVBa0FGcTFvcG9ac1dZcXAyeXVmeW9ZS0M0dW1hWHlBdUZnSEdJWkRFeDRHdlpPY0daa0tIREhLcFNHM2dpMnRMTUpsU0haZE1HaWdzeU81QStSVTRMYXRIRUxFeWtsU3UwanZ2T0QwSGhxYnlCR280aTA4ZW5TZ0FzQjJtUGJUdzB5RWdHckJNeE45ZXpBQUJhR3BqcENDTHpsdmdVKzFNMHZSTzA3WE5PMmlOblRDRU5qWVIwVXYxQ2F3MmNlRkNOSW1CZ0FRbnRVMG03aXZWZUtZU2xxRklRT0lIdERMK1JhWFIwNzVjYkJrUjJudjdkZlRIanNvWGtEcnpNSXBZVnkraGppcFNNS1ZBL3BjMGdDV1ozWVhOYlVMTXBSbEVQSVVFeGVBOFBUQ0lRNW1OdkpCMHpJQWRpOVRwd3NTNkZ0MEZmaGZ0QkhMUjdJcHQwRnZ6UG9lRHNISlU4dFJzaHRBZE5lVSswZU83R1lmcmxJN3o3TnRoWnVmM3FtcjVzQkNQT0FCcG5mTzUyMmNBS0xHY2x0WlVvQVhGZmQ1OGRDQ0NEbG1TdUtzYjhCZ29hS2RMT0xkRnZwUmROTERxSUJIeGlpQ2h1ajlQdFBBTmk3dlJheGtINy9WZHhpSHI1NS84OVZIdzBjUGg0OC9IVDc2K3VKUC82d1dySDVjWDRWK0xEbW9TcVJOaFFpak1BSE55RkFvRERUQkwzeTc4NnBpOUJUTFZKVlFCTFFwNTdRdXR3eTBwVVRqMUMxVUdZMWhXTmFNZ2RLSjJWKzNERmk2aWUwQ1pzVXhFamFOVTZWbFJMa3pCWUpFL01rUUdtSXRSUGFNZHVNcDZ4VGhua0prVjBtVWlKbUhiNi9UaE42ZlNJY1p6UWhxejlVQ1pZMlJsKzZTdEpFTHJRUmhGMXlnZUtjUUlWQUtFVDQyREdlOHIzeVpyS0hUYzFuM2FNd3VHOEFOZUhHbmRYZXB0cnErMWRocTNVSWNMYm43TGdDbzRKL2JZV3ptbnFCeEFqK09BRUNncVZEYldrbmNIbmRmNXZPaWtFNEFTTFVvdmtsUXdzR1pFbFQ5RG5aaWJEbUhCWXFKSmFmSlBtNnlIMXZoZ2J5ck80dmJLN2RZaXMzQmNnL2t4cGJ1L1FRcWRadUttenhGSUttVTU3bVNwOTArYkxjZjBjNEQ5TmcwZFNFSmRpS21xQXk1VnFNcUtjVnlUNmxvTkxNejluaEhnZnhvb1lFMEtMK0h4cGc2bTJnTmVGcURpUG9VVEx6OXg5VDBkTGxTR1owdSsycjdybzl2UnE0cjBObDl1YTQ0Z25uOFhCZERZMSt1QzJ0aXFFYlBPWmt1eThadGUvT2U1azZLOUNKeFdtS2tGdzNrWm8vMHhnVTBFMEc1VVoySzlHeHNRcmlBWHBPVEdId1ZBc3hnRFgwZ2g5aGRIV1JtOEFxSmU4Z0U3NWw0ZzI0TTd2QWRmZkJ2NitpaldNbHpBaHV1UFUzcDlBTnVldE04K2hDQU9VVkptTi9EajNrNDNFam9wT3g0WTNaZW05a0JoN05lc3pPTzdJd2pPK1BJemppOGJUd1hrOW01T2VGSUZsWkp1eW1lY1pDZXMxT083SlFqYXF4bmQ4cngrT0hWNzU1Y2ZQN2c2dEdUN0h4anNxejNKcDF2SkFGb2lEczc0cGhOcDhrSDRGcFBPU1pVYXdvSEhiNkNRNUZTY0ZpQlh4VlJEWjFjNzM3OHhmRFY4N1FWQjdCdHgxWWNPSzZZNThybE1NdDBLZzVDa2MyekZjcU5SQSt5S0hQcHFnNVNHWWdVeXZOYmRjQmRwTDV5dVN1YnFreEo0T3ozRHFJOXN6Q2dYWFBLRTdScFN5N3kyM1g4V210M2NlUFdqMzUxWWxnL3hZT1BQNzhiZ0dJY0FHbThSRGxNS05oYStNeWdhSHk5dFpXRVUySHF0WlVrVTliVjhscHFLMmloSjZ1dFROVnJLV29yNmJ6bVJLYXN0cExWVnJMYXl2ZWh0c0t4ZVNjOEZNc3B5aXRpWGlnNjdjU3BGbG1TUml6U0trVjhKZTA4VUVpU0ppeXlsRURJekVvc1dZbmxMWlJZM3J4NmNmbnEyZVYvL3pmODVQSHcvOCtHang4ZTNqcTdQWDZ4SmF1ZmhCa21ycCtrQ21pSllSamluckNDa2dpL3Vtb2xqN0VUVmhiU2UrenRYQ1dkWDM4a24wR1QzeEpCaUliOHZvajNaMHZTM0RndDNZZ2JwN3dFcy9XeGhFenIxcW5BOHRkejQ1VExjMEt4WEZMdWNNTE52bnZLbDRyNVVsa1k0KzZwQkVBeE1BYTRRRXhSTEp2Zlc2alVTNlhPN0tJMUtHYTNVTE5icUI3Q2ZDVEwyUzNVY2JEUVRHK2hTaEgyelA4dFZBb1dxZHdJTENKeVpZengzaDRXRVN0Q25pMEtjL2dObUpLWUw1ZEVhWTVRaUNnQk5PRnJONHR2d0FnbGdMNUthYTRIWHhmMm9FSUpaemJSR3BRejdKRmhEdzloUHJESG1JVjZmdUpDUGU5WmZLM2FYdXZlK2twcjdaWmRjNzRkWG9sRWh1ZUhYMHNCR1d1MTlkVzFWaElocVVyNEkzaWNRRFd5dm83RGJYR0M0anduNUxNZmVSaTNOczhzSFR0dklvNDNTVzladFQ2UzM2M1dYOTMvNk9ManYrTTYvY1ZuOTYvKzhlZkw1Nys5L1BDcjcxeTlQc3V2L0tRcDVGZVVIOUREdmM1OWZ1VzdkRmVlMWJmOEtKakNtdzF3SUJ1WTJROGNTbnc0RHZ0MnNGUUFYc3BYaE5JYy83amhYSHkvTDVtVHBuNEhiZVJJdWlwZXl3VTBsazE0L1d5cURrdHgvU3lGdyt3MW1sMDl5NjZlWlZmUGJrQkdPL0hWc3dUQkM3WHdiT1A4REw3VWx5aEVrU1lwb2lscEY0QUM0OTgwYzdyTjh0bnNydG0xWjYvRDMvL2x1NWlyM3V5N1pZbURhRktJaFpnbnZGYVdTcWZ2ejlmeUVudC9zbS9seldaR1RQTXJlWGJCZ1ZhRVlPQlh1QkR6QXY0VlF2Z013ak04UCtEeEUwWWpNQ2dTUHBpNkdaZ0xBamJEWmltazY2QVNLWjhiVjM0cG9RSEZxWFFRYmNEWURxb2tOS0E4bFE2aURSamhJSFNtN013cC9MOUxBeCsrQlZCTEF3UVVBQUFBQ0FER29YaFpKUERiK0RvQUFBQTZBQUFBRGdBQUFISmxiSE12WDNKbGJITXVlRzFzczdHdnlNMVJLRXN0S3M3TXo3TlZNdFF6VUZKSXpVdk9UOG5NUzdkVktpMUowN1ZRc3JmajViSUpTczFKTEFHcUtjN0lMQ2pXQjRvQUFGQkxBd1FVQUFBQUNBREdvWGhaSlBEYitEb0FBQUE2QUFBQUV3QUFBSEpsYkhNdmNHRm5aVEZmY21Wc2N5NTRiV3l6c2EvSXpWRW9TeTBxenN6UHMxVXkxRE5RVWtqTlM4NVB5Y3hMdDFVcUxVblR0VkN5dCtQbHNnbEt6VWtzQWFvcHpzZ3NLTllIaWdBQVVFc0RCQlFBQUFBSUFNYWhlRmxZWERSWHZRTUFBR01mQUFBSkFBQUFkR2hsYldVdWVHMXM3Vm5OYnROQUVMNGo4UTRyOTl3bWptTTdsbXlxdGpRQ3FVR2xpYUFjamIxT3JEcDI1TGkwNWNTRkIwQkNQY0FOY2VCQzRjQU53ZHVVa3JkZzlzZE9VcStqRkVKTGk3MlgzZkhNenV4OE0yTjdiSzRlOWdQMERNZERQd290U1Y2cFNnaUhUdVQ2WWRlUzloTnZ1U0d0M3JsOXkrejBjQjhQWVliZ1lpdjB3TzVqU3hxOWVIUDIrb09FN3QrMUpFV1RPTXVZYlNNS29wanovamorUEhwM0xLRjJ6M2FqQTB0YXFzbFZlakh4aGpJcFRyZWcwbTJINmx0ekhCd21EUkR6UEE4YnJxeExuS1pRV2wxV1ZVZExhVEtqWVZkMzFKUldZelJOZHoyYzBsUzJuK2M0cXBMU05FcHJ1RTdWODFKYW5mUHBXRGRTbWs1cHVtSEl3RmVaMTNiT1AyMzdsSjB5MTZVMU5HWGE5bXBWTVF4MzJ2YnBjMnNDTyt1Q2MrdVQ1NTYwM2F5TWNjdWh1UW1lZHhJT1o0Z1BFS1hLSXZpcEVDQTl3TTBvN3RzSmVyanZPM3N0ZTdoblNjdnllVTdLM2ZTRGdETjNqZ2Fnb1IwRnZpdGlIVHNZamEyRkFKYlFJMzR1Y3VVd1llY2JxeEhkM3ZKRFhIZzM0M2lNL1c0dklkcmtGUTB1WGFnclk5K3dCNFMzR2RqSmJNWnRPMGx3SEZKL3lzV3M2N2pyaDJ0eEhCMmd0djhjUEZWbkVGU0xSVFpEOTJJQzFCSGdxbm13b0FJTUQ1TGN3SzVDVWs5Q282YlFhSFJJYUFkN3NEYm9WV3hFSmJWQ2lPUk1yRXdXckxPeFpLVUl0U0ppczlnWlptWEdSbVpsSXNTdk9QckJ4UjAvVEtDUVZsTm5ZenJtY1BiQ3M2TE1CekZDREpjeTdEUHVHeFgyU2huMkMwYUlibG1tdyt4MHVQeVhuakxPcDE5M2pLTFhIYVZHUmhub09UV0xxL3RhVmxWY1RNWVYxUDNhaWtLdU1pdW1zMEl2eWdwVko2UE1pcHlhMzhvSzd1MUdrYmZyT2hubFY0QkE1SklUNHM4aG9udGU2NFJvUm1GeXZydDB6bHZNSjdKQmhsajdkZUtiOVY2MlFMMlF2QUxQOG5ZZUEwdlFuUTFEb0djZFd0Yk5QVHY1ZVByK0MrSnRQYlV1YU10eU1kYmV2QW1sUXJsb3FlQUM5Yi82NVZSTDMzR3l6aVlIbnhjSzBqdS94bFdpT0k2eUxqUm55RVZ1QngrbWZlalQ3eWMvdjMwYXZYMDUrdnFLZDZMQmJmYlRkaElOK0Rmbld1QjNRMHZhd0NFRUI5d0VZV1lTZXhoWHhUOGV1TXY1UDRwOGc3OW54N1lERzZLbTNmZURJMHRxK1U0Y0RTTXZRVS9zZTlnSFkzYko1anhpWkpoeFhKY0thb0s1RFZ0MlkzdlFRL2REZHd0N0NaV0grUTVKRkxiWVRXbE5QeDR5V250QTRDUXFZTUVQbTQ5TXMyWEhFUFpEMUNHT2dXY2QzeFJtNjFHU1JIMDZaVm9GMHFTOE1LQzJoc0tnR1RNZ09zMU9UVllNcTV5SElLTzdBZ0F1QWdTTGw3SHkwclRTdEgvUE5Ia08wNFRmQlArMTE2N2F0TWxiMDFXUFA2SElvNFJUT1FWV2ZFWittUDhDVUVzREJCUUFBQUFJQU1haGVGbmpvZkUxQ1E0QUFMd1BBQUFPQUFBQWRHaDFiV0p1WVdsc0xtcHdaV2V0bG5sUTAxbTJ4NE9Bb0MwTnlBNHRjV0VWbFhGaEVaQThwUUdCaGhnUUVHaEkwelFRRXBFQ3hBUU15U2c3aW95c3loWlpZdGlFeGhBaXV4Q0JGa2NSUWNKT0ZnWFptdDlQSVB3azIrQjdyMlpxcXFhclhyMlplKy8zajF2MzFMbjNVK2VjVzBjNkx1WEFWRnlkWEp4Z01qSXlzSjkySmt3NkJYUDR1dnUzeGxjbi82NFBHZWx6bUtvaURBc3JrSlU1RE51bEtpT3JLaU45QVlQRFlETHkvMk1BKzk4aHMwdFdUbjYzZ3VLZXZkL3NHREJVWUx0a1pHVjN5Y25LeTh2Sjdad203cHpENUZUbDl4ODZlWDYzR2lwWTRYQzArcWxiOThzVmoxeG82dEh3SEFZTVR2OGNjM3ZQWGswdGJSMWRReU5qRTlPalp5d3NyYXpQMmpoODcramtmTkhGMWV1eXQ0L3ZGVC8va0Y5Q3c4SXhFZGpZNjNFMzhJVDRoS1RrbE5TMDlJek1uTnk4L0lMQ0J3K0xLaXFycUk5cDFUVzFUK25OakJibXM5YTJYdGFMdnY2QjMxNE92aHNaZlQvR0hwK1k1UEw0SHo3T0wzeGFYQUkvcjI5c0NyYWdMOXRmdVdSZ3NuOUgvNWRjcWp0Y3UrVGtaT1VVdm5MSjdNSi9OVkNWa3o5MGN2Zis4eWlGNEdpMXc2ZHVLYXBmdUYvZTFMUG55R2xQUU9Qbm1PRzltZ1pudUliZ1Y3VC9KdnUvZ2QzK2Y1SDlIZXdmWEpPd2ZiSXlPOEdUVllVaFlCS0pTVVVtN0IvcVFvamI3S0pCMmVkbzJOVTFralpoemh1SzVFbGgycVMzVWxoVFlVOTFSL3lqQ0gwbE50R0JpMVlta3NWTkVsbmlQckMvaWR0NW1xZVZJb3JrWkJCZElqblo2V1dIN2VHVVBuMFYwRElydUo1eHJ6eStBb3VhTFBhektIZTlrcm1CY2V3LzljU24xR1NRT0tpYTcxSnRiS3c5K0dQTnk3TXgvWjZNVmMwTnJPZkh1MVVqV05QQlFmWU4zNmZ0cm12VXljQkorK2NWM1dZV2M3Y29MV09sOWU2aGxSTDJISE1vdmJsNnMzMVplN1A2QklLVHE0dWhPREVTTFNJWm95TU0rUGh1c3lxYnY3UjM1YkRkOGdaaTkwYWNGcmU1dVp5b3I2UU1pYnlEaFNGRUxRalBRZCtWbUl2cnVuRVhMUjZRcjVJbnJEaXpsUUNPYjFRb2hja3RnZmdrWWhRd3dIZGVyUVNjQlNUMlpxbFhBQ1FqMUJjaHdMQUhkczdBT3MrZTBVQklVRkxtS2FTS0hMbFA0cy8wdis5NzRZUDNqNVBDM0k4ZHNGbW5laFRZN2ptYTMwbWgzMG0xLzlhamtYNHBLYmJIOFVMays4dzhJNzYxaFlXRmxnZnRSR3oxWXJ0clBqSVQxWkZZZXBHbWZUU3IxYXZHcERxbTNiU2wzSlRtY1NvZmVWMmNXNUZwbGp6Nnp5SDZaNW4xSVRESVc5dm1xMnBBMXpyM0hwTTNwRU5RQ3VoSDd5VWR4dGhiUWtTSk9sb2JjaHRBeU51YlFjWjhKS3R4UHlZYVd1c2wyUUtCSDdiTnM3dmdCTndseWcrZ2J4TFI3UkYyekdmTEpxeXVLc2h2NXJXT29BM1NrK3oxZmZTSlpDWiswSXhVaEdoTzd6cmN1QWh0eVRnYzhFQW9FTnBadXBMUzhIcm9abCtRQ2hnbFVuY1crQUZybVIxbVBIY3RWT3FDTzl2T2loZWx2SlJRa01KVFV2WnFhUnV4S05XNzFQVnUweXlnMkt5VmswdVQxMEhxSkNjZnRmRXFNRW9POFhaMEg4bXI3WEdxU0M2NVBLM25pWXB4OWFGSDJONUhUYXBGQnBxNFRBcTZzdDNxR0lrTnVTMExROTJNYkJaNk1vUmozQ3VGZlFQTnNTaUFGM2xxTjk5elRBckRySTBMdVVxalFhWlEvRTRVdWNYdXlHOUVOOFgxWGQ4UVZVQkIrYlVDeEs5TzJUYkxDY1ovdGo4SVZRWUI0dW5DbU1YdE1DWjFITnYycHJnZTAyS1RtbnR6UTVNbVZJWkcrcldDVkpKNEE2dDg0VS9FWUNBOHVjdVllQVJxbHNLK3RRdm1kbytIczJZMVFmTk1raUlSQmFUMUk5T2FvQ1J2Q0NuVUVGbENLZnI1ajBVWEFPT1V6ZUlwNUxjRVBtc0UrNWZGMTFSMDRHdHEwSnpmOUJmS0N5UmtaTFZTM1RhZlo2OUc3ckZCY0FxOUNGY3hSWlc0S0ZCTjhDTVVIZG1BU0pld1E4UjNkdWZEVTdzMFo4WWRLL1EwUnFVd3hvbUdqd1dpd0pjaEFyZlQrNnoweWFraWtqaE5DZ3NqMzBiTDJlOFJvWVlSSVZIamRBNXRWZUVSYVlvQ2VMVC9BckpYK0lENWMzMlZUbUNUbVVIbVZGTG80Y21iWm1oRmFIN2tPVWtEWkpSMnA1UGd5M2pTZCtBUFA0MDcxMTVadGovNGR1SGVzbU5YZ1ZtMlI0cS9kKzJsckdPKzlEci9acE1Sbk5HckdvOThaOStKa1pvaGorNXppUGpZL2lkbW82Z1BCVGtSeHhZOExyay82NCsrNUpuZlpQRUw0MjdvYjN5VGhuQmNqWi9yWHBmK0dBOGZjc3NHeXBFUXhuVlV2eVR6UndveUZWNGdLZytUTVpTVUxjcSt1RzVOd3F2bjJObFRrQmVvZGg1a3NoYUFDbWlnTitnc1pBcWlleEM2cEFPRVhJZnNBWklhT0hkN3pYaVltQWdJV2Y3SjIrR1pIWHE4UUZtZnA4eldFWXZBdzUvZi9JNFpZckRUaVRoSUN1TkUzU29pM1cwVDJXeGxka1R5RlVaWFNkK0pqSUFEV1dWTThEVFBvN0xxZktSOVRTUTNVbE9JR3Q1b1AyZjgvVDFCYjVRV1liMWZkeUdGcEVNOE43SzJHamVVUG1zSlpLZk5NQzZQcGJWNDE5anNhWHRiZ3ZYNjZQSnNzSGpCays1aG1XWitwcVR6dmZwMDUrakxRbk96K1FqSE90dDJ6QWJ6WnZ0RWdNOU1BVzJCc2hvQ3NBVVBvRDFBZDYvRUNsZ1FxYzhKZXA2Tk1yb25iUVgya0VPY1ZpWkpuOXhqSFRiaXRaUForbElZenZ6Mm5KeGRZblVBTlh0RnRmSk4yMndHUnpuZDNvVGRnY0FiVHJlUkhqNVp2S0hiUUgrOHJIdjhYbm5WckZpK1JzS1NuQUZUMk1rSG9TWWhZYWRLdFlrNlhQT01PVVhKY1FRclc1c1FKZEFCdGxJNjNIaVUyM0IxNGlFd2w3dENPdmllcENicEl5dDFIWEttUm5TcmRPemhKb1lKUmxobDFzREdaSlZOYklRdmUwZk1NYndkQ09FZWtkNE94Zk9RVTI0OFgxYXBtd2M5dmdwZ3Jyem1JRE4rWm5FTGUxNWYwR1FHSWw1SVRvQmx4WFVFY2g5Y1hYSU93a3JXUGNic3pvRzZQSVFpQWNkVnlEd01OTkFCWEE5Skg3ckRmV0Iva2tBdmI0SktRUzBCK3VIR1hJYSs0WHN5Wm1oaTdBM2kxQkRmSndrWHpqUFBtcE83N24zMHZ2R3FQRGRxSHoySWlJTGlxUVZ1S0pEL1hGOGZxUW5oZnloMmZ3YTk0cHh6ZGh1Mml4ZWVuMG1JTHIzQjMweDQ0T0k3a2p2eDA1L3l2aXc1dWw2enR2c2VZeDRSbEpPRWY3dzQ2SFZudTNsNThoUkJXRFJ6K2FOblhtZ0N2ZERzYnF0QkxhdjBNOVdBYjdBMk9PS3REaitGSmc3NytXdTJWeEFxdng4V3VYTkxRMXhCcloyZm5ocXh2WlltT2wrTzFTenF5bWo0Vk5SWlpaT2FYNC9aYnFCWTlLWFNxTmdiV3BwYmJhVHkwT2h6MU5VcVlIcksvZGlweXBZbjhVcG5KaU1lbHhZbG5CbGJiTWc2b0xlaWpuSTh1TmVrNHMvL1VsL3ErUGlWanlHZ2xkK3ZVRDRuU3MycXQvSGVMQno0dUpEY2pNeXduSlJ2ek54QXFFS1dueGMzOVNpcGNGMTcvYUM1Q0p2d3ZybGsvUFpkcHBXVnZrYlgrdzRFai96dHk1cmxOa3J2bXI3SUVuUnFyU2Jrb0trNGhHOTc1Ni92R0xhcnRtNlVIMGVQYlFpbjJwVTB4K1lIM3l6NGRqSmJDbkNCSjJiWFBjdllIZ3pLcGRJanpabnprdm5ad1QxR2Z0ZG9xZkk1anRXaitVWUxXb0pmcUZyeW5xZVQzRDFLRnEzZldBUmJ6NTZtbW5oWUhKNE8xVEVPQzNoSXZXbGJaMy9OV2Nmb2lhRnRnMU5wVVQ3N3hKWlA2eGMrZHdZdGlMeURHdXZTa1l4MTA3T2ZtOSthVTkrZDNRaFZYbTRGdzVNazhEbWlDalRBYlZTOFlwWFo0UTBxY01QN2xHNmVIN2srcExwWWR1QmRzMmtIaWsrV2gzaHNGa0xEWG0vaWsyL1FZUkNSL0FIUTZFNGxIWUVvRHVlWklISlZDeDlydmlMbU5rSmg4SWwxYithOWdRQklITUp4UDlJTC8wNWk4K25rYit0S1ZoeW5OREt0aHd3TWNmdEVUOXVjd1hiZWlSVHp6RTB4UXVpNnhlbG1pYTNjMlIwS3dnc0I4V21yalR6eUhTbE0xWDQvSmtnUEpLLzB4WEhkVDd1SUs4a2hVcGp1cDdKRG9IRWY1Ulp6VWptZGlPWWdwdlFFY1d6UkFlQ3BSUmVZa2pKTHFSWWx2RC9TQVRsVGwzTDhwcy9Uek5PbnNiclg2cmRMdTFQamtGMWR1dEF5ajNJbjdENHhIamp0QzZHdTBRbkpqaWVlOE5kMkVaNUdIRzllRGI1S1BHZld3MWwxdTN6eGR6dG5hZ2FqOVhqZmkvdVlYOFZGL2ZOTDh4SmNlcjB3c2ZsZzN1SzdaT3o3cW1YRG8wRGRoZElWbXFHVCt6TjJEazFlVjd2R28rcXlldjVacHVPN3Z0bm9QSnFwNjhtNmxSbXVoWStYdDdwWFJFTzhsMWRIWjZkMWJZeFBkZTFSckdlaEx6REZaZDdxVWlIQVdkMUtFajFDekVBdmFTOUF6UjMvMUdaNDY5bkRuOVdtaDhqVjZMbTVPU1MrRnVmL083TjJaZzVIT2dMcU0yOVc0eVJHNE83S0dpanBoVzRaOVFuV2QydnJRSis2N3o2cTZhQlhTUW5WNktPcFM2dXJaMjU3WG5GN1pNdlV6bXEzY0RISWNUR296eGsyYUhHNWZuR25kM0g0NHhxSUV2QWhDaDkrRzkyRVhFMENLZHpaOHQyNW9DeFhhNFVwL0M4UkVyQ3Npd3NPcloyS0tEc0pLUGRHYVVLTkxKdVUvc0pxVml4dDZaTGZzcjk3MWwvSHRBVHJFMEhPZWdFekRzZjJYOHphTkNUUVZrMEI3SlFnUzF3aVFaQ0dmTnRFRW5VNnRBWjQ4V2c5ZGQzcS9vdmdFdHRlcndVcTV3VGU3RkZiRm14Zlp0NVF4Y1orQW5IWjFTemFxOFRRQXlzRnI2NXUzVmcrOU5DcWR6QXYyanJlMTJVNEsrRlVmVWw4YmxXdDQ2aUhxWlVCcDVRZkhrY3RmVmwwYlQ4S0t2SDN1WUdudDNSYUxCRVBnRnNDaDNZMjBiYWNFTUJ2Rkdsb0NYYTY1ejYrc3F3STliYitBOUM0SWxNUlgvWW5TQWVVN1pIQ05JaktkVDJKWEhQSVdFQkpqTVZ6MGVuNjN3SGs5SlZtbDJ0VTVsalU5V1djMnhOekg3cVZqK2YxYlVFU3VDNjRDVzBKMWFZQ1NaTlNXRE5pb0hHM2lDZ3VKK0lBL0VDUTNNN1htRDIrZ0FRMnl2VG80aXdwRER0M3J5MklYcm1FbGlXSHdtK1R6bzRRWFdqUUZJZVdKTXFZNmh2NXRJNWg2KzZrTHdhZkUrUS9jeVVoVzNRUURuZzJidHNpeHFOMjNyVUFya2xoaitQOWZDajB3dFVRUG5xblB1aERMK0NUYW9Kc2NabGRPQmN4TWNYRFowak1NZnFxa0lYUWdPZ0NXZkhnS29SdU5LUUFOZ3JJRE9hWVhRU2ZQT1hBbnk5V1R0MlF3cFJGTWFCUnEzMXhLQWZEc0JXSHV3N3ZQNGRIUHIwbm1SVytTN2xpR0RERisxemJkUDNreVdUVDBJWlM1N1BCdGYyWmQzZHVESDZGOHJsZWdqMmFsMmVvWmZRTzcrZDZYSWdJM3d0RU5HSVcvTnhkaEs2UjFsVGZtY3pITkoxZVZPMzh6T2lqM0x1U0x6dE5kTC9WSHliYmYwZ0k2Y1RmQUZCTEFRSVVBeFFBQUFBSUFNYWhlRm5OeHZLcXJ3RUFBUGtEQUFBTUFBa0FBQUFBQUFBQUFBQzJnUUFBQUFCa2IyTjFiV1Z1ZEM1NGJXeFZWQVVBQjVVWVEyZFFTd0VDRkFNVUFBQUFDQURHb1hoWlgvK3BsenNNQUFEZWJ3QUFEd0FKQUFBQUFBQUFBQUFBdG9IWkFRQUFjR0ZuWlhNdmNHRm5aVEV1ZUcxc1ZWUUZBQWVWR0VOblVFc0JBaFFERkFBQUFBZ0F4cUY0V1NUdzIvZzZBQUFBT2dBQUFBNEFDUUFBQUFBQUFBQUFBTGFCUVE0QUFISmxiSE12WDNKbGJITXVlRzFzVlZRRkFBZVZHRU5uVUVzQkFoUURGQUFBQUFnQXhxRjRXU1R3Mi9nNkFBQUFPZ0FBQUJNQUNRQUFBQUFBQUFBQUFMYUJwdzRBQUhKbGJITXZjR0ZuWlRGZmNtVnNjeTU0Yld4VlZBVUFCNVVZUTJkUVN3RUNGQU1VQUFBQUNBREdvWGhaV0Z3MFY3MERBQUJqSHdBQUNRQUpBQUFBQUFBQUFBQUF0b0VTRHdBQWRHaGxiV1V1ZUcxc1ZWUUZBQWVWR0VOblVFc0JBaFFERkFBQUFBZ0F4cUY0V2VPaDhUVUpEZ0FBdkE4QUFBNEFDUUFBQUFBQUFBQUFBTGFCOWhJQUFIUm9kVzFpYm1GcGJDNXFjR1ZuVlZRRkFBZVZHRU5uVUVzRkJnQUFBQUFHQUFZQW5RRUFBQ3NoQUFBQUFBPT0iLAoJIkZpbGVOYW1lIiA6ICLnu5jlm74xLmVkZHgiCn0K"/>
    </extobj>
    <extobj name="F360BE8B-6686-4F3D-AEAF-501FE73E4058-2">
      <extobjdata type="F360BE8B-6686-4F3D-AEAF-501FE73E4058" data="ewoJIkZpbGVDb250ZW50IiA6ICJVRXNEQkJRQUFBQUlBRmFpZUZrMURhY2Nxd0VBQVBnREFBQU1BQUFBWkc5amRXMWxiblF1ZUcxc2haTlJUOXN3RklYZkorMC9SSDVQaVZPbktsVXkxS1hBa01wQVpNQ3pFOStrVmgwYk9RNERUZnZ2c3dOcXFXbTBQRVRKK1k2UHJYdXYwN09YVmdUUG9EdXVaSWJ3SkVJQnlFb3hMcHNNOWFZTzUranMyOWN2NlVwVmZRdlNCUGJqc3Vjc1EzL2lCSlBUbUpaaGxOQWtKQ1V1UTBxaERLZDBWbUpXVDZjd1MvNmk0S2JJMENPWEtIalk3UkpQb3NrYzJkakFQaTQ2VjdMbXpic3dpSVVTdmJIdTRDRkRTWVRSaVFldmFiZDFMRG9rOTArTUdyaWxEZnlrTFRqRHhYSmRuSHZMTityM3BlYk00VjkzOTBmb1hTOUFqMk5YQUJCY3dyakZIZUc3QnJvOWJyblJ6YkkzYWsxZlZXK09XOXIyLzQ2MXFyYjVXNUUrNDZ0R0tnMHJxSE5wQ3ZNcXhzcXg4MTBvYVVZODV3SXFvM2xGUmE1VjErM2k5dVZQVC93K3BvV3hvOFJGZDFDYk55MjRwV1pqSjRGNGxUdWc1RU80bDVVdUs4T2ZoMFpmU1FZdjNsbWMzamx0UHpqcDZvbDdTbEZwQVBuSW1ka01aRGFQZlBnRGVMTVppb0tqNU9NR2dwcGE2ZFlSQnQxMlQzTGJkQU5zWlY4T3hsRk1Rb3pEbUFSeHRNQjRRYWFlVncyRHRtUXRsN3d6MmdsN3g3VzlpVFVmalpzdkNQbGtIc2tiR2pUY1lmdnpEMUJMQXdRVUFBQUFDQUJXb25oWnZMWUJJQ1VLQUFEcVVRQUFEd0FBQUhCaFoyVnpMM0JoWjJVeExuaHRiTzBjMjI3YnlQVzlRUCtCMEw0azdVWWlLZXBpUU81Q3ZzaEpZVG1xSlR0VzMyaHBMSE5EY1FTSzlzWjkyblpmdHRnMjNhSUJ0aTEyVVdUUll2UFNMb29tYmRxbWZ4TTd5ZFArUXMvTWtNUGJVS1F0SzJ1M2xCOGl6amt6NXpJejUwcWw4ZDZEc1NrZEkzdHFZR3U1b0JUbGdvU3NBUjRhMW1pNXNOTnIzYW9YM3Z2QmQ3L1Q2T2dqSk4xWkF4UVpVSG9uRTdSY0lHTUZhVXNmdy9jM2o1L2RVZ3JTanpFZUEwNUIyckVNWjdrd0hoZWtqbzA2K2dUWk1Gd3V3RklTZk9oeUhSdFBwdTRBSGJ4bkRKMURhUmNRRlZVdFZ0UkNLUWk5all6Um9VUEF0YVZ5c1NZcllUQWh5QmRRRlRrTzlSZFFsMnBoTUdGbnhVYjYvZGtzY0xRVVhqcllkbXpkb0FpdDVtWjNQUXh1SGptNGEvd0VFWEJ2ZTJjOWdjZ21PcUFyeUFud0hwN01BbTk3TEVhWjh4QldzT1Bnc1FDak83Q3hhZTdSeFlzVkVhenZ3cFJhcFY0UEkyell4bkFGalF4clQ4QWNCL1lGd0x2MmFNMncwY0NCb3hqbXFsR0tucGZHcG42Q2o1emc5QjhlalNkdFBFUUNnUWlvNjV5WVNFQ1Z3dHpOcUlaQlcwZmovVTEwakV6QnRQRzRyYitQYlhxYTRpRERZcURvTVFRUmQ1Rzlaa3dkMFVTQTNzWXAwT1owU29BUnBkK2VkQWM2RTY4aVIwRndBUWV3cHF0VnVSaERBSXBjYzNKQTZTRWRFL290QTVsRGdtM3FKMUwzRUgvUU9jUU85czY0dEVWUE5YK2t3QTZla2tVbGVyRkFJU0NWeEc0UHFGdDJrVFlOQzNtSVBmVEFBUjA1Qmdqa0xSVlJBMldEMG5mdkR6Tk1uaWs2L2VvM3A1LytrajN0TEJmSVB3V3BaZW9qdHI3aG1FaXdNRjE4VnplUHFCckFnQzBYdXIzdGtLb29TZ3RianRUU3g0WjVzbHhvRzNBZHBoanVhVjhIcVFvU1V3QnN1N1NLVFF3Mjd4Mk5mc0lxTDNsQ1pCSk01WUw5OGVucng0KzRZRlNTYXkxWmxYdVBqNTY4K2V3Smwyd05UWFRiR1NQTHVZYml1YWVmeUZmejVGc2Y2NGJKeFhPZnJyTmtkWDRtLy9HbmwvLzUvTldqWjYrLy9vSUxlQTl1dFhYVmo2WS80RnEwcUtHYmNrdllNa3l6aGUyeDdyaVJ6eFlSajROWE5sbzJIdmNPMFRqaWZCb2QyN0NjTG5LT0psTExBRy9iUFVUSTRZcDBneVhaTjQ4a2J1SG1rVVFwZ1RpS2hBTnQzUWJueVdTbC9qMDRBUEZBOEpHNTk4QUk1d3JzT2dSOFFkM1FFWGRIWDMvMGk3UGZmYzF0NmgzcjJKZ2ErLzcyU1p0NGNOKzd4VlJBNzZFSnJ2dll4MXZSQi9kSE5qNnloaDVDMTlJbm9wQW5TUDcwcno4amdhUnIrSktvZXk1R1JKNDlCYW03MkFMeTFNbjV5bWl3VFNURXk3NXgrdkQzcng0OUNUa2hpa1lQRzNYRzViQTRGTHArY0FDaERBR1hxd0l3Y1hNVUtJQ3RZc3VDdVd6eGloWmdsb0s5cDNiYjUxWWpCMEkzckgxeVQyV1A4MTNEMFUzRE9abkJ1MWFieWJzbXorQmRDT3dlUXJBZmdUWktMcS9lTTBOaWQ0bCtkNDhiQk5JUzNSRHU5Y0FpUU53M1FOT3BKOVRaczUrK2V2SkpXQ1JidDZZSGNFR2pkc05QQ09SYTNLcjRVZnlTSEljMnJaRW9ZS1N3alk0YjMxYkt0YUlTU1JNNEJnMXlsYVZxSEFxSDJGdEJrY3NRWTB2YkxOYVcydEhnTllCUDE5UEN5QUxTTGRPWUNJSnZEaFBGM2lXUkNoczArRjNUSFQzR2o3Ri9aMGk1RVpBQVc1Z0FoOXNtV0xHeDJzRndqYWZSaGRpd3Urc2RSK0VtaVowYk9lcEk2S1FFd1Nrc28vNUtqSEFLT3lxM1VhbnNaTmxpbjBIQnJtWGpxTXc0S21mZ2lGd0h3bytTeXMxbHFVdGp6R21YcnE0bE9TQkpKdmE4b1pBSGJCdlRRWFRxM2YzM3dRd1NmcW5PSWtjNU1xT3hmb3dFaDVpT3J0bGVxaTYxNGxjdk5wR1pSemZnK05HUk1iamYxcWZnOUNwS0xIYUtSU1pkYkJwRG9XNjV5WC9ud1AwSWxPV3ZGNy95RmhKQ09QUWVFbGNjUWtpck90VUVSSVpPTWxKSGR4eGtXKzU5RjZMUktrTFR0dkVIRkV2Mm9zQzRRV0xiWUEyekkxTlJRUkZwS28ycEZmeFhYU1Azajd0WTJEUWdkcWdQa1h0UzBRRUpUNVZLWlJCM0Myd0xQT3F4dlVuY2dRYnoxOG03UXhnQTJVbU9MN1l2Q1FzMFNvR1RHSEs0RUFIRWpqb05DMEtaZUErK3JUOXdrRFgwU0l1NFMvTGVIQ0hreGRQTUZwMFI4dXl6ekFPZk1jUGJjNXlOOC9qczBLeHNwcFJQaVljSFlEYUllb3M5cFVpMThiMW9ZVTR3bnhNTlRHYUttVDI3OThCaFdkK3NsSXhpQ3FNR2Z4Mmd1V0pDdUM3dE5rMWpCRW5JS2hnNlpMTWFEenRVekxDUjVFWGY3em9Zd3ZPNjhKRFFCVU5YYlluOEpRdXhlcWpiK2dDb1NYZjJtT0ZOeng1cGlaQ2VGUytQVEtQU0FTSWpXNThjZWxTNkUzSkwzYVRPbFpxNFBtdllNdXlwUTNIZ2dlUnkzdmR0bHUzUnlmb0FyU0RRSi9LZm13Y09DWWRuSEV1VzRrMGx0cWptWm9iTTF4S05hbDR1bUdUd0JBcFRNaWtzcTVySWZpZkFLSHd5a1RwTWY2dDdDVllpaE85TVBNVFRqNzg0L2VxVE43LzkrOWxmbmpWS3ppVGpUSENrMzd6NCtPemhsNitlZnZueStiOWVQdi8zTnk5K25qSy9VWm9rZ2VFaWlDVmtBSG9KWWpZM01vVU5oTUtBRFlUSHlMRU5GRE8xTHVSRVJISUxVOStWSEFadjBYcnJESVJWRTAvUmNJWWozOEtrSURTVEJNbTFaNnpReHNlb2g1UFVtVGxHcGRoWndrQ0tXRXFrU2wzK3BmS1RvSmhTSXFFc0xNd3dBdDhlMFV5YW40dURCWndFSWRWR1NYQ3YrS0IvRGQyd0tMV1lvZjdQRlRQS3RjVGlSRjdNWUtONU1TUElZRjdNeUlzWmVURWpMMmJreFF3UElTOW01TVVNNlMwVU0vNFBTeGlMS3pPOGZQN25ONTg5WldXR1FPSGc0ZW1MRDA5LzlldlRmLzd0OWVQSGVRWEJSOGdyQ1BQemsxY1FMbytEYTFSQmNGLytJTXQ3ZFlTeW9JNFFRbU1CU25Bb2xKRmlTNXlUK3EvcGVway84YTZkcmQ3ZURmQUs0TjZLbTNkWDRmRUc1US9pd1dLbnVSMTZkbk9QNHA3MmJteXNyOTI4ZVRNZW52bXYvNnFhNGhIc0w1QWdSTXZua0ZHTmtGUjlrdXE3c2JHK21rU1NsVXZVYW9xRTg1S0Q5RSt3dXhscVNFcFJLVmZyTlhSTEtWTVdpWlp1c1FNeHE3WlVyM2pZZlliZG4xbHJJcmdiTzgzdHRSdXlRRTJ4d2hOQnY4R1krRDVoNktZd3R2T0RVTFh1eFpOc1ZwL002aWZNQ3NTaGxXSVZVaHNOaE5mT1U2eFNpK2NwVi9teTA5ZlBCUElINmxmcHlGVEFuajVpTHBIZzh3dXdSN2RiZUF4RkUxVFJoSVNpR2FrTGhOQVNzdm1scGZSc1B2VFNwSy9nNjVHS2w4WG9vVlJjUzBHK2VDck9ZdmhRS2s1cWRmVGxSOFZMeEdWNWx2ZSs2bG40dktGcVlxQ1pPVlJOamtRWEg2cGVOQzZiS3g1TkkxcWZWZFc1Y094RGgva3JydXczSm5DQ1RmcUYvenBnWkVFS1NYNmI0Nys5eTdyenZ0SE4yb2JSdnAwMkRDRzhxRDVNcFJJM01mUDBZWWp2emZzd0YrL0RwT3N2NzhNc1FGMEw2OE5RbzVFM1l2SkdUTjZJeVJzeGZFYll0MStWVGt5cU1lVlRMckVUNHlicmVTY203OFFJOTNweEwzeCsrdkRzOHovd1RneHJ3T1N2Y0VZUnJtTURKb3RSelRzd0N5R2FUZlZ2c1FVekIwT0w2Y0ZVMzBZUDV1SzlDVTNRTEVqcnYyaktITjJKN0FRRC9aY1UrYlFJT1UzUUROR3k5bDRxY2xwM2FWNXlGKzY5eUZlaTQzTHVib3RXcVYrbzJ5SmZ5eDZMbk5veThZNmJhSUtXOTFqeUhrc0FjRFVTN0x6SGNwSElhN0U5Rm5IR2ZFVjdMTzZTSWpJU0tkRlRaUGVWRmZJTWZoZklMYkVIRmlHUlBKS2prYm83WmtnMDR1dGh2N1JiT2g4UlJVMmtvZ2FwcUVFcWFnWXExV3lpcUhPSlVzMG9pcFpCRkJxWGVOdkUvdXM4K1BKZlVFc0RCQlFBQUFBSUFGYWllRmtrOE52NE9nQUFBRG9BQUFBT0FBQUFjbVZzY3k5ZmNtVnNjeTU0Yld5enNhL0l6VkVvU3kwcXpzelBzMVV5MUROUVVrak5TODVQeWN4THQxVXFMVW5UdFZDeXQrUGxzZ2xLelVrc0Fhb3B6c2dzS05ZSGlnQUFVRXNEQkJRQUFBQUlBRmFpZUZrazhOdjRPZ0FBQURvQUFBQVRBQUFBY21Wc2N5OXdZV2RsTVY5eVpXeHpMbmh0YkxPeHI4ak5VU2hMTFNyT3pNK3pWVExVTTFCU1NNMUx6ay9KekV1M1ZTb3RTZE8xVUxLMzQrV3lDVXJOU1N3QnFpbk95Q3dvMWdlS0FBQlFTd01FRkFBQUFBZ0FWcUo0V1ZoY05GZTlBd0FBWXg4QUFBa0FBQUIwYUdWdFpTNTRiV3p0V2MxdTAwQVF2aVB4RGl2MzNDYU9ZenVXYktxMk5BS3BRYVdKb0J5TnZVNnNPbmJrdUxUbHhJVUhRRUk5d0ExeDRFTGh3QTNCMjVTU3QyRDJ4MDVTcjZNVVFrdUx2WmZkOGN6TzdId3pZM3Rzcmg3MkEvUU14ME0vQ2kxSlhxbEtDSWRPNVBwaDE1TDJFMis1SWEzZXVYM0w3UFJ3SHc5aGh1QmlLL1RBN21OTEdyMTRjL2I2ZzRUdTM3VWtSWk00eTVodEl3cWltUFArT1A0OGVuY3NvWGJQZHFNRFMxcXF5VlY2TWZHR01pbE90NkRTYllmcVczTWNIQ1lORVBNOER4dXVyRXVjcGxCYVhWWlZSMHRwTXFOaFYzZlVsRlpqTkUxM1BaelNWTGFmNXppcWt0STBTbXU0VHRYelVscWQ4K2xZTjFLYVRtbTZZY2pBVjVuWGRzNC9iZnVVblRMWHBUVTBaZHIyYWxVeERIZmE5dWx6YXdJNzY0Sno2NVBubnJUZHJJeHh5Nkc1Q1o1M0VnNW5pQThRcGNvaStLa1FJRDNBelNqdTJ3bDZ1Tzg3ZXkxN3VHZEp5L0o1VHNyZDlJT0FNM2VPQnFDaEhRVytLMklkT3hpTnJZVUFsdEFqZmk1eTVUQmg1eHVyRWQzZThrTmNlRGZqZUl6OWJpOGgydVFWRFM1ZHFDdGozN0FIaExjWjJNbHN4bTA3U1hBY1VuL0t4YXpydU91SGEzRWNIYUMyL3h3OFZXY1FWSXRGTmtQM1lnTFVFZUNxZWJDZ0Fnd1BrdHpBcmtKU1QwS2pwdEJvZEVob0IzdXdOdWhWYkVRbHRVS0k1RXlzVEJhc3M3RmtwUWkxSW1LejJCbG1aY1pHWm1VaXhLODQrc0hGSFQ5TW9KQldVMmRqT3VadzlzS3pvc3dITVVJTWx6THNNKzRiRmZaS0dmWUxSb2h1V2FiRDdIUzQvSmVlTXM2blgzZU1vdGNkcFVaR0dlZzVOWXVyKzFwV1ZWeE14aFhVL2RxS1FxNHlLNmF6UWkvS0NsVW5vOHlLbkpyZnlncnU3VWFSdCtzNkdlVlhnRURra2hQaXp5R2llMTdyaEdoR1lYSyt1M1RPVzh3bnNrR0dXUHQxNHB2MVhyWkF2WkM4QXMveWRoNERTOUNkRFVPZ1p4MWExczA5Ty9sNCt2NEw0bTA5dFM1b3kzSXgxdDY4Q2FWQ3VXaXA0QUwxdi9ybFZFdmZjYkxPSmdlZkZ3clNPNy9HVmFJNGpySXVOR2ZJUlc0SEg2Wjk2TlB2SnorL2ZScTlmVG42K29wM29zRnQ5dE4yRWczNE4rZGE0SGREUzlyQUlRUUgzQVJoWmhKN0dGZkZQeDY0eS9rL2lueUR2MmZIdGdNYm9xYmQ5NE1qUzJyNVRod05JeTlCVCt4NzJBZGpkc25tUEdKa21IRmNsd3BxZ3JrTlczWmplOUJEOTBOM0Mzc0psWWY1RGtrVXR0aE5hVTAvSGpKYWUwRGdKQ3Bnd1ErYmoweXpaY2NROWtQVUlZNkJaeDNmRkdiclVaSkVmVHBsV2dYU3BMd3dvTGFHd3FBWk15QTZ6VTVOVmd5cm5JY2dvN3NDQUM0Q0JJdVhzZkxTdE5LMGY4ODBlUTdUaE44RS83WFhydHEweVZ2VFZZOC9vY2lqaEZNNUJWWjhSbjZZL3dKUVN3TUVGQUFBQUFnQVZxSjRXYkVNcUtrSURnQUFmaEFBQUE0QUFBQjBhSFZ0WW01aGFXd3VhbkJsWjcyWGFWUlRXYmFBTDVOTVlrUWlLQ2dwRlJrVW9SU1F5U0lPQlJSVUE0WlJ3aENWUmlRcFJCbURSRkl5R0pta2lrRVVoQWdJWVJBak1va3lGSE1CQWtJa3dVUWhDU0lFZ3lZcTRVckNUY2YzM3VyM3gxN3J2ZTdWZmU3YVArN2U1KzYxdmoyY3M2OTBXc29HTnJzNnVUZ0Jjbkp5d0duWkEwaFp3SW12Yi8vUyt1cmtYL1VoSi8wRDBGUUJzTUJOQmJuZGdMeW1uSUttbkxRUFFBQ0FuTkovYndEK1o4bkpLeWdxYlZCV1VWVlRsMjFvM2d6SXl5a295Q3NxS0NrcEtzcXNWMlIyUUZGVGFjdXVnOGMyYUtIT0tPKytCRDkwOWZjeWxUM0hHN3EzZWs0SURDek9SaVdycW1ucmJOdXV1OWZReU5oa242WFZZV3NiVzdzVFB6bzZPZi9rNHVybDdlUHJkOG9mSGZMWDBITmg1OE94MFRHeGNmSDRoTXNwcVduWFNOZlRNM0x6OGd0dUZ0NjZYVlJlY2EreWlsSmRVL3Vvc2FtNXBmVngyNU9lM3I3K2djRS9oNFluYVMrbTZJenBsMHdPZCs3Ti9OdUZSZDZTOE9Pbnp5dWlWZkRMMmxjdU9VRGg3K2pmNU5LVWNja3JLaW9vS24vbGtwT1AvN3BCVTFGcDE4RU5XNDZobE05YzB0cDk2S29LL1BqdlpRM2RxbnNzUEFWYnowWk5xR2tiV0hMMkNyK2kvUmZaL3cwcytaOGkrenZZLzNJeGdZMEtjckxrS1dnQ1NBQ0NqTXN6Z1ArdjdHZmp4cG5Xb2dZaHRWOEtNUFU0cS94VnNVM1N1TDZGZ014ZkZ0cjNJbFJpcFlBT0lYUzlIaktRNkFsaDE0OWdxQklGMEVSOE5DandQS1F1Y09aamhKL2NTTDJYaVNUSUZoOTVJc1d6US9nTVhRSTFWdUlpRGRNb0w1M1BYTHF5T2twUUZoL21IY0xONmhEWnRXczc3QVlhT0x6WUhKWjlqMTBnV2dxUUtNM05qTTh1NWxLQWZSc2o4TWowbm1yNnVaajFnOVB3ckMrdENCVlBjWXMvY3dXMzg5WDNIZjBsejQ1eGt1NGpEY0pEYWtkZ0hsdnR0aUZ4VHRub2d2QWVuK0Q5Nmk3QjNsaXYzSGFzdTA3VXBjQlhZd2Y2L1FPS1lrNHYyYUZLZkxhL1FIbk9wMlFWNStXWUZxTmFMVkNCWTNSMFl3aWtKUVZBRTc5MTNUQyt0UlRJM0FpdVNvSEozb3B2cTZuSEJBdjhrV293Y2VBSkxBc2hLbHF2bGh6RDNlV3RpWW9SeVFSbm9VSlBLNlEyZFpiZTlNWHlIYTdrOGdBTThIK24yMUxHbVdicWxTaWZiR05vTUxIYURiTkxrMHNNUDkzVXdnNVlXcWVjRzZjWTN2Z1luQmNmdzlmNkNEZVVVV1hlNndaRjF2RzBUTlpJNWtpRTV0aHRUb2ZobURtTXQyRyt2bW5kYm5Kc2VpaHNhMGRublVOVmkzQXIzU2JML0FoY2NNcG51K093RjRteHdHZVN6UnZ6UTNPcVhyM1NhUXE4ODJKbFBoYmU4a01SS2crZmNlTlNsbTdXR2JlQnFJczFKazZIQ215Nm9rNm1IWjVYQ2ZaSktHLzc3azBuVGtoZDNpL0dFWFprZHVzYmcxUGlBMGtqbC8xNk1ab1MzRHJaUVFPM050N3pnUlhHSGU5RDdsajBRelk1RDBhU2tBREJscm9JcVFuRCtEQkI4VkhoRGwyZGpDVEQ4MDg2V3lremtoT0N2dXk3L3RqYzZhQlhTd2ZSNGF2azhpbkJyQVJ1QWYyRStCWEovNEprM3lLdWZhUytQTlQ1cHVaQmpZYzZpYW9HWDNTUEZYcFgxYmcyVlJoUFVsTHY2UG5VK1dMOTZ1MC9EaG5XVjZVNkxYbG01dVdpVWdLSFRhcGUwY0FReEh6QUE0NGozRS96THNvUkRueEwvRWFJc2hTZUdaK216RVZteGNLdWs3ZExnWkFQTHlPNUgvbzAwT3JxUVg2RFNKazk3RVBxaklQd0JpV2kwdjhFSlR4dWpaVGU3c2M1RUlCdVQzR2pMZGZ6VFhlMWRlYmEyeHZ2YW00OXhVN2ZnNm41VHpRS0kvV0d5ZGk5aHdVN3Q5TXF4ejNMKzNyVlIxeGVVRHpRemZzbU05M3Y4Ujc0R0xMQ21STVJQNzR5elo5N2R1ZCs0UjV5eHptUnErOGp0eGw2MENnR2pFTkl0UHlnM3hmRUdsS0FhMGhRbEFKdjVUc1BTNEhrYUNuUWJkZkZKZ2ZMQ2pxWmtOUVRiQ21rOEUzRWVtRFhnSVA1ZWpieEhBS09iK3d2TlY2LzFhbjZEdG9yUktiTFdKS0RsYWRpWnpYeG1VRlRCTTM0V2h6NmZYTnQwR3NzdXFXK0ppaHdkZ21kTnRvL1A5L0gwSExaY3lYVE9xZUxYYVd4c1M1U2JBVDFDQU8zdmRuOHM3VUVqcGo3TEJnODZMazc0YlFIYU9qMmRGVFhnWjVyOFBqcXZaT29jOWQvZThmcGV2UWhqY2l1N0dxTTU5UEVQMEJqSDVQR01BOEhzNUdjNDVJdG9ML2dMRktIc2p3blhPMGxDdklESk9ZQ0J4STdNM0t6dzYrekFqZnFabUtJV3gxcjhSSm1uR0xXWEZONS85TVFQRDdQcVhhS01WNzBtdGh6clNXT3lOcDJSZWNwNDkxTlRKZ1RMZTVKOEx1V3VJcElUcHdVS056eUpaeS9Gcjk0eFlvdGEzTWpDbDlWOEtuZkFTRWMveFY1Wm5aYUN2d0JIUmFVMW9WUzhRRUQrckQxSWdkMU1LemZRWmRoeWJ1NTRFRW5JTGthT3QyKzZKYnMydW5BM1I2aDFUeEdIT05tNCs0UnhZa24xeENuL1JZOHNvbmhHRllBKzAyd2l0QjVnUG9TSndxWTdOUUZjK1l3L0M4Q0hJYWVwSlBFUW1vbjdRSVhqcmV0bHp2WUUyeEJCYzRvMFZuZ2w0azhUVXhsS2w5blAyLzNFbG80VHExME9LeHlFZGNNSXVSSHZHLzJ2RjlBWmRBODJ0ZTFId1I2WDRxamVHMzFZWGd1cE5tUjBaUk12Nm95azI3M0VuU3QyYjU3ZXBuaDRpR1dKNXRUbTVvUWNZNng1OXFhVWRpMldSeG0rTFY4aHZFRGk2UGxHY2JBdDRRNkJ2c1ZVbjRzSEJ5RWdTWUYrUTUyd29Ya0xiTWlua0JoRkhuVktzakN1YjNyaEJSUWZDVXJpcGhucDUrMGQwN0U0bEt2MXpjR3ZHOUlOS0dyUDczYmFGb1Bmd2psTVA0Tm5SZDgzOHIxKzFQWGZRdE9IZTlRY25IUDhwN1hybnRlOThHckFIM3dUcWl1WjRwN1hIdGU0OFBpTzZHcXRGWkxnNWtIVEJ2M1RlTTNmZU1LNktYWjloWm41MFNKWGFVOWlZcnJaY2p6SXhqYkdLdUFFYUllSHJjczBOQnllMHE3MHgxOWlaMytaMFRFKzBJdmh1NlB2NzFlOHIyWiswZkVnYmxjK3FuVDYzZmVzOGwrWkVoWFI1UmJMQTVPVlAyTGwrVG94TjRVdDR4ZVYxcE1jL1BrYmdlWS9JQjZDKzBHaGJoYnAvM0pWS3lHNjl1ZnFXYWM3MGdqUk00MFVlQ0dXWE1tZjcxRXJ0OFd5TGh2cVlFc1NIVmNGc2dsV1NDdjRHY2hWYUZZRlU4YklEK2s4Q081VW1BYjJDV3lXcjlGUUhISHRmRVZvck9nRVJVczdJUDJNaUJWUE1LSFFYRGtIb2ozRVRqTzFOVGpudEJyNG1OcnNNeVd5dGhvWWcxV3gxcW5zRkFyME0wZzI5WEd1R1V1YzlDNU9DbHdyMDNsKytkcEZWdHZWZmRIUGErcTEvZHVDNlY4cUczYlZCbFhYVlVtVGxPWmJIWXhPMFdMNkE5M2lUWmd4WkVQNWRIOWVKOWJsMjl6VkNXcVlsTlp4L1dQWnhIQzVuaDg1SVVjMFBET0k1REszVkJKd2M3c2Z6RjdVZ1pRQWcwejAzV3ozK2JkVzBUam5NTkUxSWM4Z1QvdjhFVW1qMDV2R2RIYmxwV3pabzVCZ0VoSWxTZVdKeHdSZXBBazBXellkTHdJS1VCbXR4dlZ2c1ROYUF0SktWTGdYRTR5dEYzb2NhMTUxQzYwamJaQ2hvRXBqZ0tmbS9VVjJCWWRsYnlYV0x2WTE4M3o5Lzk4MUcxNW9ZdzBEUmRhOGNZSzdMd1hmS2tIc0NzTHZ2WEdxQXMrSEZKS0JrV3R1YUJpSmZGVDlJTUxpVkZtQWNObkswZHRoeHh0bnpack01L21MeGpkRDhFTlI3NTJIVHBnMnVRSVJ3VTZwc0ZSUjVXK0pVa3hUUHc3RVIwY0YzYUpIZ2dvM1RtWlhZOW1lekFrS2RCSUdlaFNJV2hQTm8yblM0RkhyZjNrRy9vSGhWWmpEV0l6YUl6WVpGakRyVC9SWHdwZmI0VGt6cmRzUGx3bTVNNzFIdGJYYnhGWWZrVDc0OC90ZEpvTDdpTDdKQVloUDZNN1lldUZ2N0JPZ2krbGdKTHJ3NENSMTdaVVlnUlprWGtBS2pHOXVLVHROQWVwa21WMUlrb05taDQxOWVyWG1PK1VBb2VaL3QvZDNuTmJrMm10RU03dkdhSlYzcWpUalZueXJrajFxdFRONS9uazJBK2NNZUhwVHBUWVAzYS82SmtmbEY5TWl6TElyM1EzYzkvblk4cU04ZzNNaTcrZ3Y1TG4wa1JOL0VWazZpWlloZFQ4VFEvMWtadkhaZm45Nkd3UWZna20wUnFaYTNSVHNDdndMdy9JQVUzYVJXOS9TdCtVakRkTWZYVFYxTlB3allPUFFFY1VMTXQ4U3RLWUZGRG8zQ1NSRTBRdVo0cDNZcUZONEM1QjF4OFlGY21lR253ZHBMb3FyUHJVMTFxcURVWnpycGozNk9zWEI3ZFBkTEh2cldrWEp0VHRSRGczNnF6RzJUa1VLNDBPRDluNTk3NkZJOUJnaUlqNGdtRExyVzVISVplVnhUL2k3enB1NnBBVHpLWkxRam1KVkxWblJhOHJwKzdCelBLcVFEM1hhR3NTTk5scXQ1RVhrM2NpSG9kenVMdjJ1NHR2MEE5YWJOd2kvVGtMT2VCeDQ4bHpFcnFkVGxpUEhId1lGRGpjYXUxbi9kdmlKN2NOcFBNWVI5cmJwN2ROK1lLOWlhaUlNOFRvS3lFaElaRy9uTkJERFpPYmJtaXJkdHNPMjhiSlk0c2paMGo3eTJEaE50WDlsRkRsaEwxVzhhUEJ3MFVwaEpVZHRMamtBcWNpVkhHbVY2eVd1L3YzS2U0bUp1N0xqL3VISkduQ2dBRk02eXhmV0lsWDRDSnlJRnRvVUFyQWoyalZKajJYVlFxbCt3TWNOTytXQWczVWdaeTBZSk11bWZMOE9ET1NnK0N2VkdOTEVVSlJzemlSRURBWm8rSFhRNWQ5aCttUGMwYUI4VnpjRCs0Um1qSGh5L1ZhSiswS0Nua0ZCTmxSb3JSUkN1UXFzMkZpQjltZGlvRGE2MFIvb2JidHF4dGhjcjVmbVZkRDFaZzZtZVdYN0xPc05sTHpmaGlkZkxGQzdlS0ZRL1dvVHphZk9uRzJsdVg1amxGaktIZTNxRzd4Wkg0SnEranlVR3VUYjJGckVLdE5ObENwL3VPQmFoQ3lXVStEQUhDVnE1d05HYzNNSkQySFlFSmlYNG5mVHd4SmduazNsV1V0R2dUbE9CKzI0a25IQlpGcGtENnYxSUIrQkNhd21CdnY3VklNQkhQTkZmRkdQZm82NUQ3bDNycjdzNHN6MnlkTVY5VGZWWDltb1JEVGNOK21PbnFaMGI2dHRSUDVGVU1tbmpWMlVmbTJGV2ErYk82cmhJcnRVYTBYenZjemVWYUhza0pEalFkYzdDc05Ta3BybDFZYkc3SFFMMkFrdEhOQm9BWEpXcE9WSndXMEUyVGgyU2NGRmhzci9vR2UybVpjTHdXYURrcUJ6enV6cEVCUDBheUVuQ3RPRjNsM0xieEdTdVNSODI4NjU3ajdFYkp6bHorUHE4ZUhCTHhvOW1EbURkVExSb1h0ZUhQdXB2UzdFdFI2Qi9MQ2VHYm5CdjJEWURTM1EyOHdTWWxobFVQQ3dJbm5aZU1mcU54SEE3MEdTbmMrUCtKVGZveUwwY0NLZk8yZ3pNcWxoZ0QxRWZYd0NuRmN4bjdkeHhrclg2NTBYSjVxaXh4WnhycFREaXduQlNmWUJ3K0xtdm5VUi9zT1prV09iQnNRZjd4SGphRCt0VVhOdUx6QitKLzVyWk8rL0J0UVN3RUNGQU1VQUFBQUNBQldvbmhaTlEybkhLc0JBQUQ0QXdBQURBQUpBQUFBQUFBQUFBQUF0b0VBQUFBQVpHOWpkVzFsYm5RdWVHMXNWVlFGQUFla0dVTm5VRXNCQWhRREZBQUFBQWdBVnFKNFdieTJBU0FsQ2dBQTZsRUFBQThBQ1FBQUFBQUFBQUFBQUxhQjFRRUFBSEJoWjJWekwzQmhaMlV4TG5odGJGVlVCUUFIcEJsRFoxQkxBUUlVQXhRQUFBQUlBRmFpZUZrazhOdjRPZ0FBQURvQUFBQU9BQWtBQUFBQUFBQUFBQUMyZ1NjTUFBQnlaV3h6TDE5eVpXeHpMbmh0YkZWVUJRQUhwQmxEWjFCTEFRSVVBeFFBQUFBSUFGYWllRmtrOE52NE9nQUFBRG9BQUFBVEFBa0FBQUFBQUFBQUFBQzJnWTBNQUFCeVpXeHpMM0JoWjJVeFgzSmxiSE11ZUcxc1ZWUUZBQWVrR1VOblVFc0JBaFFERkFBQUFBZ0FWcUo0V1ZoY05GZTlBd0FBWXg4QUFBa0FDUUFBQUFBQUFBQUFBTGFCK0F3QUFIUm9aVzFsTG5odGJGVlVCUUFIcEJsRFoxQkxBUUlVQXhRQUFBQUlBRmFpZUZteERLaXBDQTRBQUg0UUFBQU9BQWtBQUFBQUFBQUFBQUMyZ2R3UUFBQjBhSFZ0WW01aGFXd3VhbkJsWjFWVUJRQUhwQmxEWjFCTEJRWUFBQUFBQmdBR0FKMEJBQUFRSHdBQUFBQT0iLAoJIkZpbGVOYW1lIiA6ICLnu5jlm74xKDEpLmVkZHgiCn0K"/>
    </extobj>
    <extobj name="F360BE8B-6686-4F3D-AEAF-501FE73E4058-3">
      <extobjdata type="F360BE8B-6686-4F3D-AEAF-501FE73E4058" data="ewoJIkZpbGVDb250ZW50IiA6ICJVRXNEQkJRQUFBQUlBSSt1ZUZuRXVQSGVxd0VBQVBnREFBQU1BQUFBWkc5amRXMWxiblF1ZUcxc2haUGRUdU13RUlYdmtYZ0h5L2Nwc1VsTHFKSkZKUVVXcVN5SThIUHR4cFBVcW1NangyRkJxMzMzdFFOcWFXaTB1WWppK1k1UHJEUGo1T3l0bHVnVlRDTzBTakVaaFJpQktqUVhxa3B4YThzZ3htYy9EZytTdVM3YUdwUkY3dU9xRlR6RmYzaTRqQmxuVVJBdktRK2lzcVRCNllSRFFDa1VFOExDVTZETHZ4ZzliY3pwS0J6RkdOM21LWDRXQ2p0YjVCNXZuV2xWaXVxejBCVnpMVnZydHFHbkZJOURnbzk2OElZMWE4L0NYZkw0d3BtRk8xYkJMMWFERjF6T0Z2bEZiL3RLLzc0eWdudjhjUCs0aDk2M0Vzd3c5Z0dBRkFxR0pmNEk1d2JZZXIvazFsU3oxdW9GZTlldDNTK3A2LzhyRnJwWVp4OGhmY2ZYbGRJRzVsQm15dWIyWFE3RnNkRmRhbVVITkJjU0NtdEV3V1JtZE5OczdMYnhKMGY5UGlhNWRhTWtaTE9UelVjTjNURzdjaU1SOVpMYm9kRVg4NTVYTWl1c2VPMGFmYTA0dlBYTzR1dU5yMjBISjVtL2lGNGxMd3lBZWhiY3Jqb3lpY00rL0FtaVduV2hrSEQ4OVFlUzJWS2IyaE1PelhwTE10ZDBDM3p1WGg3U2tFWUJJUUdORUNWVGNqSWRIL2UwdWh1MEdhK0ZFbzAxdnJCVjNMaWJXSW9odXpHZEhwTnY0Z0cvcmtIZEhYYUxmMUJMQXdRVUFBQUFDQUNQcm5oWnpPVGMrbndXQUFCOVN3RUFEd0FBQUhCaFoyVnpMM0JoWjJVeExuaHRiTzFkVzNNY04zWitUMVgrd3hTM0tpVW5Vck1COUxWQ1pZc1NTVWtwVVdaRVNoYnpOaUpiMUt5RzA4eE1TeXZseVd2dlJyS2xMU2tWMmF1MW5kaXFzcjFLeXJkVXJhL2xkZjZNWmtnOStTOEVRTjluME4xQTkvUndob0w4WUU0RDZBT2NCZzdPaCs4QVdQamw3ZDEyNDViVDdiWGN6c2s1b0toekRhZXo1VzYzT2pzbjV5NXRySnl3NW43NUQzLzlWd3RyelIybmNXNEpaMUZ4bG8wN2U4N0pPZkpzcm5HaHVZdi9mdkgwNnhOZ3J2SFBycnVMODh3MUxuVmEzc201M2QyNXhsclhXV3Z1T2QyVGN6Z0RmbFVELzZPdlcrdTZlNzNnQVgzNFdtdmJ1OTY0ak1zRENCVWR6czBuVTg4NnJaM3JIa2syYmFTWUtrZ25FNEhSQ3lCUVIxUGpGMERiVENlVDZwenFPczBiK1ZXSXNoWFVaYzN0ZXQxbWkyWllXVHkvdnB4T1hyenB1ZXV0ZjNWSThzYkZTOHNaUXM0NzErZ2IxSXowRFhjdkwvbGlXTVhoeW9VWlRybWU1KzR5Y3F4dmRkMTIrd3A5dWFMcHRzNUszdlNUY2FxRlVEckRtVzVyKzVTejArcGNZZFF2U3R4a0pMN2EzVmxxZFowdEQvZkdkTVVXNW9lN3pNTDU1aDMzcHBjcy9vODNkL2RXM1cySDBTYVN0TzdkYVRzTXFUUXQrQjVHT3VuQ3pkMnI1NTFiVHB0UmJIZDN0ZmtydDBzNzFHaFNxK01uRGZkRTNNVExUbmVwMWZOWUJYSHFXYmNnZGJIWEk0blcwUERZVzk5cStzM1QxZUVrUEFhMzhEc0RyYXJLU0FZc01kS2NtbEI2U3NkRS9rckxhVytUM08zbW5jYjZkZmZYYTlkZHp3MjdlZU1DN2RqUlQ1cTQ1dmJJU3h0MGJHR0Y0RlkxL0FHRTFhMEdtYzYzT2s2WWNjTzU3V0VkZVMzY29QQlZRMnFnMWFEeWd5SGsyNmJRR3ZYLzlCLzlSNy8zZjEwNk9VZitOOWRZYVRkMy9QZTN2TGJEZURGOStlVm0reVpWQTdaaEorZldOeTZtVkVXenJMZ2RyN0hTM0cyMTc1eWNXMjNoNGRCejhWRGRiT0pXelRWOEJlRFAzamp0dGwxczluNmgwWDlwbGMrSGplQnFHSXdhOXZHZkQ1NCtqaHBHV3pMVExUT2lDZVROWnkvKzhDeHEyWkt6MSt4NnUwN0htOEhtQmIyZnRNOE0yN2U4MjJ5MW8rWUZ2MmE1WlZiVUo3Lzk1UGxmUHRoLy9QWEJsLzhaTmZBMVBLbzcwOTQxNHdlQlJSczJkTDNJRXE2MDJ1MFZ0N3ZiOUFMbjV3SnBYcFI4NnN4SzE5M2R1TzdzRGswK0MydmRWc2RiZDd5YmU0MlZGcDV3MTY4N2poY3BNdkNYMU5nOEV0Y2xNby9FVVVtNFVzUWpXRzEyOGVUcHQ1Vk84Y2tIMkNWSS92Um4rTVNUcUZiWXJtT2ZMNmtiK2lUNG9nZHZQaGo4OGN2SXBwN3IzR3IxV2xmano5YzQ3MjdkQ0VjeGJXRDRZeEZQM2JmaWZLZWFXemQydXU3TnpuYVlZYjNUM0dONVBVbngvZjk5Zy9pU2dlSExraDVPTVN6eC9xK2s5Q0EzUXp5ZDVHSmxMUGdma1FoSHNYRjYvYjM5eDg5U2t4RE5SanNibll5SFhDQ2F1bnp0R25abFNESXlHTWxrbXFPSmpMVFRicWVEeS9vdjE3VkVaV2x5K0d0MU5hNnRSanBFczlXNVNzYXBHdGI4Y3N0cnRsdmVuWnk2YTJadTNUVTFwKzdNeFBYcjJOOGZTbDJZRCtvYS92WXorV09KL2gxME4reExOK2dIaVdZOWJCR3czN2ZsOUhwaG93WmYvMmIvMmYxMGs3ck5UdThhSHFERGRpUDI2SFZqMUtva0hmblIxTVhPRHN0aHBHbG4xZ0wvMWxDQmdsU05uWU02dWJhaDZLUEp1QmVIcnpDeExiMUl2ZW01eHVxdzY1cklUTitHYkpJdGtSMHlqR1c3dGNkd3ZxTTBsdTg5ejFMaEFuVitsNXBlYzZSR3Jhdm50dWxIWm9qQXRqQWpIWTgyeGhzWFRxKzVlQmozaGwva1B3NisrcG9ISXBQazl4dDFlQ0toaFRJYVR0TzROVGp2aXk2b0VJeXNWR0dGQ3I5eFhEL0dSK09yRHZLcmd6aXFRMFlEcVE4b3JNMzR0S1g1MWRQR3F5MDhjT09HY05VdGZKU2EvMVpidmEzaG9xOWUvUlUyZ3FTeUZJME5kZVNoRWd2THR4eEdGNlpQbDdvaFZtK3NqQTY4a1lLK2NRemNqWCs2MmRxNnNkcnM0U2xQQnlPZTA0aGZzdTYyVzl0TXhVWUcveGZYZ244TVpjWHZHeDN3SFllWkVxVys1ckNYSEZLWlRqZXBKckJmNkdWbldtdDZudFB0QktPZG1ZMnVJU3gydSs2dmFTNDE5QUZIelpIL0dUcmIvSmxwVTdFaWlsUTZvbFk4ZTFrYUdYN1JCSXMvR2haMnZibU4zMk9UR2RxNVJweFRvT3RibzlPUi93bEM2U1BmSnZNTExQaXpkZmJYSVJYQWJTY0luMjFlTWw2d01KL29pYW5wRnMvL0kxMmRPZ1VwSEw2Qi8xcSs3VG1kN1ZBMHEzWlpjM2VVSVRXSEYxa3RXaUkxcitlWmg2aEV6bHdmNVRuRFBXR25pdkNhMGFqUWtHdUFUUVpScmJJQkZLcUp2MVVaL3NSUTRZVE1SSEZmTGZubE4yNTdQdUxMZzJNMEo5TmppTitEWlo1cVkxZTljWG14M2RyQkFPUTBObk5PMTEvZjhidVViOVlJY0dsZVhmZGM3SnBiekM1Q1g1Z2FhRGI1TDdzUnA2ODN1ODB0TEsxeDdvcHZkdm1SWTlHNzEvQ3JkN3JOdmV2aHU5ZjN5TWdNWUZ6UVZqTFhkYlpYV3QyZVIvUGdId1M5aFg5ZjlQRWRMZHpjY2s0NVdJdE8vSHZ4bWtjYzRKeXU2SU82WHNOL3FSWmdRWDl5SlhyVVF2U1haZVNpYjVTUlJ0UDM5aHByZmh0UFg4a1l2YW44M2w2WXNYL3Z2ekZpV2o2MzJyLzdiLzE3Zjl4Ly9PSGczcU1YZCs4T1B2cDJZZDdieXhNNnY1ZVZqSHNjdThKK0F1MXRJNlp0cUlqL0lEWGJubkhjWGNmcnRwd1JpeGFrM0dHSnZPRFNLU0xiMTd4QUZ6VnpNcHh1dXoxbk8yZSt2T0NTVlpkY0VRVFE1cnhoMWIzbGJMaFo2dVQyQkdsdUhtK0xacHpQbEVwbjFySFdKME14ODVtQ2VLcVFNKzRPVHlpWDVpdlZvSWFld0pTNk1NOFlWOUhEZUJnRzNrZmhpZ0U4Y2lzR1VMWGxra0VzUmk0WnlDVUR1V1FnbHd6a2tvRmNNZ2pLMWJsa1lLbHl5VUF1R2NnbEEvYTNybnZKWUVtdUdNZ1ZnemhKcmhpVUZpcFhEQklyQmtGRUJYbDl1RzZBR09zR3FXeStSNUo4bEFLZ2JvY05RZVBZMXhEcGt3bDE3Y0xHbFdONElzQXptbkwrMWRQNDV6RmFQK3dBS211TEYxTy9BN0NoWE5HT2p6emIxRjU1NVpWUmZ5eU9xUVVrYnNVWHVGbWpRT3dlQzdRUkRvbUVzVWg0Zk9UWkpzd1M2YmZRVkF0YVdGVWN4bnVNcjh1eFp1UlhqT2ptaE44TjhsYVFrQmJtM3ZSemIrYXVLSkc4Wnk0dFhsdzZwaktVTTdLOFJMSWY4eXZ4ZDZSQ3J6Q2R1TmpkQkRwS2xOa2taVFl6eWlTOFRWVmdIUXFZQXF0UWNXdHA3QmFqeFlsbHFlTE10RkVielIxLzZpUDVvNDUraFg1V1puZGpGWUNzQWhscllRVHdwN0psd0hUYkxvYnBxWWpEV0wyemdiRVJPM3NLWTJzRm1jdGpiTjg5VDJGc3NnQkhJd2RCaUxCVk5XK1dublo0WGRVbHpYUW91VjNTYkkremZwZTByUDlWeWU4c0Vvb3kxb3FxK1RqMGNSUWY2bS9Rd0QyNFRmK0lRdXQzT2hnZGtvMHRjZWdyMmYyU05McTg5SXJHY0pPV3lINlNsdHVKWXNEdmZkei80cjN4OGlzMlZDeVRNZm1NaVdQUmdhVm95TXFkM0lSWUZzM0E3ek9QSHRGeXVkbHROUmx1YnZBOFhMZTc3Zm5MZG1kRHhvWFY5YU5BLzJCR1hkNjR2SGorMk4vOHkwM1grM3YveS90L0h4OWFmZ0tLYmtDZE1hM1BCN1ZJTllOUjQ4blNSWnhkUVRKR3RTaXNIdElvTUVlU09KTEVrU1NPWGdiaVNEVVVOVFFQaHNWUEgrbTJvbWxoT2Uyd1NTUSt5eHFWU3pnL09sS0NWWVJ5VkJLMEZSTktMa2x5U1lmQUplMS8vdjZMMTkvYS8vemQvWGMrK2ZuSEJ4aWVETjc5M0NlVDl0LzRmdkRreS82alQxL2MvWDMvNFVlU1d3b3lUQWUzeEcvaGVKMHltbm1TQkJPL3hhM0l2Z2pxNmxBNHFHbFZCbmZIcWI1V1E5MmE2T3lSNUpFbUltU1ZVVDlaWmRvY1JJNDJ4S3hvTWJPQ2pvODgyMFFGWkZXNENwTlA1NHhGYUVSWWNiVXpoMEZDREFZcFUyUWlucmMwWmNVbGNES1UxUW1rV29vZGZMQnhFMWVKRHlOQ1hDRURLYlpoMTB4ZW5RQzZwbWlHUFlVVWxpWXBMRWxoelQ2RlZSTG93NHBBUDJEaC9iRzNzWHhsNDdWelN4dG5qd1dnbFdIV28xY2tUcFF6aDk1eGR2bmNtYk1iUEM4UldnQ0FvM3hGS2xOb3FhQmltdXd1U0xNbVRDQXdLMEI4Z0dTMGFHbUUzemgxSTN5U3NVUWFTVHRDbUQvZEZNQnVDa2czcGVvQ0FoQmZRRGlpaXdPUzVVOG5jUURMUEpOYkg2NHVsSW9kY2JaNXFoblFpOHFkMnJBR3U3YXdCbWdyRUppakRsRWl0QUZVQ0cxQVJoNFkwckZ6cnhxamMzOXl6amMweFZBdFV5UzJRY2VnVDhZMnlOZ0c3cTR3OXRnR3ZrNGIxM01pQVE3QlVPY01jaGluNWdTQ0hFUTFGMWduR2VrZ0l4MWtwTU1NTElCVWpYU3dUTVV5ekZLaERwWmkxUlBwd0crem9uSUNOallxbDNDS05JUkxJcnRhd0lNbVYwTmt2TU1oeERzY2ZQTzcvdDBmRHI3NDZlQ0xwLzJIVDE3Y2ZYanc0TTMrKzMvKytjY1BqOXdheG13SE9BZ2FObDZIakdhdUdPWEE2Y3pHOWVJM3RoVVhKY29vN1hEQ0hhWlpJOXpkYUVwaUhzZ3NVWFBNQTFsTHlZOERzSWRvZVp1eFY5Ym0zNXlyYTBXeERtTVJHTVk2SU1OVVVDeVMzVVl3dEI4WWdOSGRzb2xuQlp0emRWdkxiMkZsY2FVakhTRFdoV2toa1hnSHphZ2owZ0VaaGdKTThVZ0gzUVFsb2h3QWxvVnNJTERjQjlFVVJqbllnbEVPZ0xtelYwWTVKTlFzb3h4bUJ1UlhqWEtBWUhhaUhBcnlCQ2FxR0pYNzFrOGRpbEdRSVE0eXhHRkdZZjdneVpkSERzN0xrSVIwMGhoUUtNeGJCQzhma2pDVlVqVzJHWjZ4YUFSUTI2MVhERjhwTWFNYmpGVE9JQVFmV0daakZRTXlHUHJrOWtLUjRHdWtIcm5RZzhtZVgxMm92N0h6OVlYZk42N2RSS2g2VmVXazZjZWxLd0dHWGtCWFJ2N2h0SktZajc2R0pPWWxNVC9ieER5UHphSWxVaFA2K00rdTVqSlBVUkUrSXhvVkdYSUp5cDljclVxWUxybjN3d0RsOTkvcXYvOWZTZTU5LzczZlB2L3U3ZjEzSGd6dXZmdjh1L3Y0anlPSDJtZWJoT2MyckR3dUY4MVlrWG9YcXMvTGM0STFsK2FybldBOS9wNHd1Uk9zUWYwbldHdlFKb0VHNVVseXhPQ3NDdzhGQ1BZd2xDYksrWVdHUkxtT1VIRTdnVEhFWEJ1eFNIQjg1TmtteUNYS1RkVlM2RGFVWExLOHFzalNaRGxRTlJHaUhKTGpzdXBoeXpVTFJOOUdoQzAzVkYxUkxhTUVZNjREeGNiL1JJNjJWcEdpSGczYTNKQzB1YVRORXdrekRjRmZKdHJjWkMreFJKbkNTemdrYXo3ZGNGeXk1cXowQ2hkTFBmcjB5T0Z2eVpxbmszaE9pTXN4ai9WQjNFS3AySEd1QjlqbWpMVXlncWVXT21lZGpEY1c2aHhaaW1IblhsRmdJYkpqZ3BHRjg0NENxTmlzT3hEaXlUcUFpSGxZeGJEOUNHLyt2ZndVVFZtU1VLKzBDNTVQaWVQZkJjL3p0ZU5xVG9SWkQ4WUo1eWI0Y1NwT1pCTzhtT0xDa1MyNWRzbTFTNjU5Qm9CK1phNmQwNHJSVXFNZXdQaEpkMjZERlJVVHNLOVJPWVlqVVJyMFI2SWw3cGMwL0NHZy9BZURQM3pUZi91ai91OCtpVTc2djdKMzVKRC9qRFB2SW1hVzJ4T2p1U3RTOE1JVmUzbG9lUDVQVUczSm9zYStNVUZTM3B6QXJ2V0t1N28xeGpicm9wM3JobDVoWHplL1FFbklaNjVIR1lZQ0RSRk9YdGR3ZTZ4YXp1clhkRlhSekJLY3ZBVVVWZGRLY1BKNHJBTWtzTXdGVFNKSW16NUducjB2UGV5SmtwRlBacEtNL1BRQ2RVbGhsWEhVYXQzNHFRdmRPTTByRlU4OFk1VTdUVXpTcVA4R1dWc3h4M3pUVW5BNWRlbWJsalRHcFVlRkp3OFptbi84VTltYmx2aUZSamN0QlFSWGFSOE9NaHlxL05PSERPd2tGYlN4c3NEeUhweGk2RkRFZ1FPNG94aFFyK1d5SmZ4dEFCTDMzNEN1R0paVnduOVRGUXNhQXY0YmRqQXRNSlVSbGFMWExVbi9UZnB2cVlUcDhOOWtSR1ZXSHFHRGlQU2NSU29aVU1rOTFPb2tWbVJBSlN0ZEJsUktORm9yR2dWcWZRZk1UakRBRUxKMjJZM3BwaUNnMklCeFYwL2lwaUM5MGsxQldzRWhQWWdjV0d3VUJCaXFCTVRwSWhHR3Byd3RTTjRXSk5JVnhoOG55ZFZwNDNwTzVyWWdmN2h6QmtxT1UzTWlnWktDbWdzc2xBeVVsSUdTTWxCeUJ2Qjc1ZHVDb0dLcmFyZzNXdVMySUFNb0tGd0JIUGQxUWR4R0t5b25ZR1NqY3NucmdvQ2k2YXBXQWRJalgzc1MwOHRneVlraitQM0hIdzd1UGRwLzQvdkJaMDhINzN3MStPQi9Ebjc2NmNXVGUvM1hmNVJYQnNVWnBpTm1VdEM0OFhwbE5IUFZLNFA0UE5xNFh2d0d0K29GT1NXVWRqaFhCazJ6UnJpNzBaUmNHUVMxQ1FSZmFzWEJseENsT1diOGU0UkhUendySk8rUmpiRFhaZVFUMitNUkdsOGRWT0ZxSk1nNGdDbWZ1TmQwUXdHd0tEeWhxc2pTMUwxS3FQdnd5aDVPOXQ2QUNnVDFoRitTVG1pVXVFQklnN3FpZ2pKSElxa0tnb0tYaGlOQXdtbW5NQUlURHdJeEJwOTlpSkprOEJOcWxneit6S3dBU0FZL3loUGFLWG1WMExUamZjbmhzOUlsaHk4NS9GbzVmQ05qWHA0eENwOTFSdEI0S0h5TjRkRW1BM2o5azJ6TDhmZGhuSGcxL3Q0VXVmbFRCNHFLZ0VqVXJhVHVqeWgxejlrVnhrN2RGL2JYdUlvVFllM3hDT2RqN01lcU1BSEdYa0Job1QyU2JMMWs2eVZiUHdOWXZTcGJieHVLYnBUaDZuVUZ3WHE0ZWk1ekZSVVJzS3hSdVNSTmJ5bXd5cGxHQ0NxR0lVRzdKT2tQQWFJUG5ueUpVZnIrWjU4OS8rNzF3V2RQZmM1ZTB2TnhodW1nNS9udEdiY0xSbk5YcE9ZNTNOYTRVdndHdHVweHlHTEtPaFJHZmxxVndkOXpwb1dOci84b0pMNnQ5SENJTm9hTVhlMlFuNDJIV3NFaFFlTVJHRytqNTJnakhOclZEaG03MmlIM05ucG9hNHFOcklKNGc2b2l5N1B4SWpROFdTSkRaazJiNk9NdkkwTERReFBRWmJzU05MeklDVWdRQ3hFNjZIdFNPK2loSVA4TzVRNTZ5YjhuRTJZYTAxZmwzMDEwdFBoM2JLZjQrSGRrU1A0OWVxSGszK3NGOTVMS1BtSlV0c1llNVROQVpUT1FsVFVkeUNvUEFtZ01DRkFjNTJ5V3h4ejhBb1dRVmQ2WmFKQnhKbHBCbkxNSnl4L0J4aVZ1TXFocXVnQ1ZoclJnYnE4UFRpRlRFVG5TWUZLeHpFeG9GSFk1N3VQTEpKWktxRmxpcVpjR1N4M0JXR2JMZ256Y3FBeG5UcnhRd3FsWjUwcVBIQzBxTVdBNmFRd1kwRHhLQjFYYnRXTkFIYW5WTUNCZ1FETDJKUndKREJqRU5KZkdnZnhDUXh4SXRrVVd0ek5uZXkxaWJLOUZ1VGlRcjVWVlJaYkdnaWVBcW92QVFiVU9OS2lacG1LVlFJTkozWXJod1JNNkhBSjUrWmhRblE1QXFGWUJoT3pkc0JJUUp0UXNBYUVFaEZNSUNFL283STRWNWNweHRHZ2VDUVlsR0R5Q1lGRHViWTB6dk1SZ0VQdXdSUmNYQ2NXWFRqY2NSR3I5UngrcFNFRTJLQStUQUFPempBY09qa1ZvQ0FlaER2UGJpSWF1dWtSZ2xLTkxQQ3U2czhnTTU5N005bFVXV0I0STZvQjhjeVFDQmhIVUZCMkJPaUFoeEpDUTNoRXJDQWwxMVZJZ0tuUHY1QW1vWTRtNnlNRkhnSno4WkJqVGdRMHJIWHlFbUhkVlNteVlVTFBFaGhJYlRpVTI1TmxZQ1pBcDBhRkVoeThWT3BSVVlaemhaVWFIZVFheXZzMkh4V0lSbk5sQTFlU1pTNGgxais1YTE5MXllcjF3Z2g1OC9adjlaL2RGajF4aXVDN0p3TVN5cHkwUjFKY05JRXgxZEtaTXpwQzZVQ2loSVJSS21BY0dPUHp5Q1IyeE5OSERpWGcwT1BhVGlRcS9jVnkvaVp4TXBLcWNKeE9OVDFzQ3h4SUphTXVVSnhMSkU0bGkvQ3hQSkpwaUVGMzFSQ0llcTBWTHBLYjBvak1QYUFraGdNeGxucUlpdkdZMEtqVGtHcFEvZ0doNHo2T0V6dkw4b2VGdlZBOVFQdmpUcC8ySC96NTQ2NnYrMjg4R0gvelF2L2ZOeno4K0dEeDdPcmovNGZNZkhoejgzL3Y0eWZNZlB1NC9mTXMvbW1qdzdsZjc3LzMyeGQyN2c0KyszWC9qK3lNSHNtZjdtQ0p1dTh2amtkR01GUThvRXFyUG9Sd0VkQ2hDdVRSZnFRWTE5SVJLS3hOaU5EZWNBTTFkZ2Y1RkREYVdIUWtjVTl4a2JhRTAvY3N2TUtTM2RZUVVReTI0d1FnTUJWZ0RSb0ExNEFtd0RscG9rYnRnOGx0WldXUnBraHRpNVlVYTRlUzR5ZDAyOWR6dG80RnlVYys0RnltNlhvYmlCa0QzSmZMSFBSTkpVM0t6ajFySVY0ZGRrVUZ3QTNteWtDUzRrd25UZ2MwbEgxVEdMNnZraitJNVlKenU0R0hUTXNFcldXSWFaRzJmWmlhK0lJbnN3ci94aEl6RjJmNFAzNFVpTURUS1JoYnNYVDhUVUNsQ2paZUU1OFdFQUpncEJTYWx3S1FVeUNIRjRHdUtsaFNDa2tLUXFCRGVwb2hLSVdzWlBFMnhxM3lWdEpEc3BnQ1E4VlU0UkhEMkxydVNzamg3RjduM01KWUNoTnBoY3JVRFZCb2xhU0VsMmtIWXRVSXBOSWhKZEpTSU5pVXRoTGNwb2dPZTNQYkswUlNJS2pWRjR4endkcVdtOEhXd3RGVVJiZ3BuQjRQVnZvckY5MVdNU2syeE9MK0tWcWtwZG9tbUNBOUltL09ycExxeHFKRkVuTVllWlJsN0xvVWh2bmtyM1JSUmhTSElKU1RkRW1GOXdURWFZN293RWJwakMvTnJ6UjNpcC8wL1VFc0RCQlFBQUFBSUFJK3VlRmtrOE52NE9nQUFBRG9BQUFBT0FBQUFjbVZzY3k5ZmNtVnNjeTU0Yld5enNhL0l6VkVvU3kwcXpzelBzMVV5MUROUVVrak5TODVQeWN4THQxVXFMVW5UdFZDeXQrUGxzZ2xLelVrc0Fhb3B6c2dzS05ZSGlnQUFVRXNEQkJRQUFBQUlBSSt1ZUZrazhOdjRPZ0FBQURvQUFBQVRBQUFBY21Wc2N5OXdZV2RsTVY5eVpXeHpMbmh0YkxPeHI4ak5VU2hMTFNyT3pNK3pWVExVTTFCU1NNMUx6ay9KekV1M1ZTb3RTZE8xVUxLMzQrV3lDVXJOU1N3QnFpbk95Q3dvMWdlS0FBQlFTd01FRkFBQUFBZ0FqNjU0V1VJSk91K3ZBd0FBWXg4QUFBa0FBQUIwYUdWdFpTNTRiV3p0V2MxdTAwQVF2aVB4RHF2dHVZMGRKM1lzeFZSdGFVU2xCcFVtS25BMDlqcXg2cXdqeDZVdEp5NDhBQkxxQVc2SUF4Y0tCMjRJM3FhVXZBWDdaenV1TjFHS1V0cUNkNlhJbVowL3p6Y3p1MW8zVjQ4R0FYaU9vcEVmWWd1cUt3b0VDRHVoNitPZUJROWliN2tCVisvZHZkUHM5dEVBamNnVElJUC9Bdy90QWJMZytPWGI4emNmSWRpNmIwRk5oNElsWTlzSWd6QUNuYjd0aG9jV1hLcXFDaHRRaVA4OCtUSitmOExGRzlxa09GUEJwRHNPczdmbU9BakhHbEhpZVRXMVhuZDBLR2gxUnZNOHg2bHJDYTNLK1hURDlWQkMweG10NFRxSzV5VzBCcGRGcHFzYUNjMWdOTU0wMVl5dkptd1l5REFUbXNwdElOZHc2ckF5dCsrY1ArZDcvbjI0NzRxaW1hYWI5ejF2dnlIeDA1REVvaWFKaFNyNDlJYXU1WHh2VmpMY0NtaHVra2c1c2NBT28wUEFxS29NZmlaRWNCK2lWaGdON0JnOE92Q2QvYlk5MnJmZ3NucVJrM0czL0NBUXpOM2pJYkhRQ1FQZmxiRm1BUVo3NGtYb2dDRHpuYVJ6QVJQK2Zwa1oyZksyajlIVTFaVGpNZko3L1pnYVYxZDBNZ3lwclpSOXd4NVMzbFpneDdNWmQrdzRSaEZtOFpUN3oxalhVYy9IYTFFVUhvS08vNEpFcXNZaFVLYUxiR0wzY2dJc0VDUlU4MkRCQkNieDBObUVyUENKY0owVS9DN3l5SkxKUmg2b1l2R2tPaXVKRjFJa1oyTFY1TWs2RzB2ZW1FQTdwRjdLZzlHc3pGRFVyRXlrK0xWbFAyS3pFR0lmeDZTckt2TUVlK0ZWVWRaRERxRXk3ZitMdE5mS3RGOHdRa3hsV1E2WE9BT1Y3UjM4OVR6WHFuU214eDJ6UE81Y1phSzdpRTU1VjlHdnBlOVhWelE2eXFySTRWUTM2RXlyd2lpcjRpcXJvbWJRbVVhNzhRZlJMcmVKcXkySUJVREVkTjdxZ21pRk9MNTR1eVNObG1yU0tiZCttL2htbmNzV2FKY1VyeVN5NGpxUGd5VzVuY1dZMElucXlkdmM4OU5QWngrK0FuR3RWNjlKcm1XRkdML2UvQmRhaFhiWlZpRUVhbGZVS2dUSW9qK3dHM04rd0ZIelhhSjZtN3ZFOUR4S2I2RUZReUZ6dStpSWJKSGtoNnZtbXlvSjB0NWE0UGV3QlRjUUpubEFZbVUvNjhUaGtEZGJudVJuUDA1L2ZmODhmdmRxL08yMXVMbVdmM2dRVUlndkZzVUwvcjRkMlE2eElqSkNKUmEybmpBdkJEaEx5YlYweXg3NHdiRUYyNzRUaGFQUWk4RlQrd0h5aXpwM2lNcGVaQS83UUx3SDNaR3cyL0tqVWN3MGQ0WVVPR3BNWVN1N3RJRFlpakJOYU52SWkyV0lOTnQyUk5KK0JEZ0RVYjBleG5FNFlJOUNFWG5xMG5BVjg1bzFiZzdVOWtpYU5Ca0RZSTlwVkVqWjlwaHpsTXhCdUJpSmVVNDRVNERnK1pJWkwxMHJYYnQ1cnFtSmErcU5jKzBHUisyNlhadGN5bmM5c1VQUkxVaFFCWVg4RTAvMGcvbHZVRXNEQkJRQUFBQUlBSSt1ZUZtMlFlRW1CeDhBQU9NZ0FBQU9BQUFBZEdoMWJXSnVZV2xzTG1wd1pXZWxlQWRVVTFuYmJoUVFoQUZFbW9DU1VVU2F3b2dnUlNSakFTVU1STHFDRUJVcElTSktrU0FoVWFUWGtUclNJaVdFVUFVSmpBaUpFTUFCQjVFdW9KQ2lvd1NRY3l6aGpHazNjKzlkLy8zdVg5YTY2LzRuNnowckozdWZzL084ZXovdmZwNGplUzFod1hZZ25WMmNZVnUyYklGZGtuNWdra1hZcVgrdS9sdkhQdy81N3o1amkrUVpURTBCRmdFcmtkbXlEN1pWYll1TTJoYkpJQXdPZzIyUisxOGRZUC83MkxKVlJsWnVtN3pDZGtVbGFRZmFEdGpXTFRJeVcyVmw1T1JrWmFXdFNkSjJtS3lhM002OWgwOXNVL2U0TEwvdnBvYmwzZnZWQ2dZbjIvczFQU2VBL1VldVJDZHZWOVRTM3FXamEzakF5TmpFMU1yNnFJMnRuZjJwMDA3T1o4NjZJTDI4Zlh6OXpsL3dENzRhRWhvV2pvbUlpWTI3Rlk5THVIMHZKVFV0UFNNenE2Q3dxTGlrOUxjSFpUVzFkZVI2U2dPMXNlTnhKNjJyKy9jblBRUE13YUhoNTMrTWpFNU9UYy9NenIyZVgyQnp1Ty9lLy9YaDR3b1AvUHpsNnpmK0p2VDM5Mzl3YllISi9CdjAveFNYbWhUWFZsbFpHVm41ZjNCdDJSci9Ud2MxV2JtOWg3ZnRQT0VoZi9tbStqN0x1d29hSis5WHQvZHZOemppQ1doZWlaNVExTnB2eFRZRS80SDJQNUg5dndGTC92OUM5bS9BL2crdUJkZ1BNbHVra3llakJrUEF4R0xqbWl6WS94VnRkNGtzY3BsV09vY3huMzRheU0reUNqUWJYTklBODlmdlNtQ3lYQ0ErdTllaWJXWDI5dlAwWGo4MlhFc0M2ejlORENHcFFFMERWUVlUY2NhdFZtTXh6Q29qUUV5aGhqdisrT3FiSzdiUzRzSUVUZW50RWMrdTM5dWYvcDZNSW5GRmFjU1FzRWxhd0Y4U1dQSit3bkI3aEZaWldtVVkrV01IL3BBb0ovZGxDelkrVWE3dlUrUGNmUnpTRFlIcW1HeTVXbjZ1U3FjMVpMcjFTbGY0d1dham5nTGo4dGJLM1RhUFV2Mi9yVTRWOGZ5eVVnOGVqSGhla25LalpXU202a0RLeFhlZ2llbGhUOUpCUTJ2Y0Y5dlRaQ3ZSNjZHNmxlRlBrYTVsTlkxelQzYTVYOHowTExYMmk3aFptR0prUEVxMnRwaHJOUHRzNWkxS1ExeGR0ZjJxTmNWZ1pSTGJQN1VmRXMyNzNiSVZxeE9HdWs0eCtZZFhiTFR6b3d1Q2NOR0k5V3hxM05tSEUydHI2N05MSm83VFphbHZ2NlYyZXBuR1NXQWRaL29sc0pSbEdRbnNPbUtoWFBwOW02TWMza0ZVTGpScElRd3RBNmg4L1ZXMEluMFh6dUlaWVN2QXIrUXlkZ2d2U1pPUXV4TDA0MHpjY1QwMnVhVTd4UnF1NVZxUEMyTlc2Yzg2dUY2Wm0rU1ZFZE9zWEU5UTM2NHMrUDcyYUlISmp2QVltcTdOR0VUaXpudFZWUHNwdWVlRXJadStvb1M3Qlp1T0lrMFpSeXBNWHFvVkpSVzlWOHliS0xVYmJqWkJxdlZPazhlMnU5OUVtdCtNTDZ1anh0aWRXQ2h2b0poZXQ2N1Y4U3k2S29GNU5OUmtzYTBWald2dS9GZmhlRVhVN21BQ0ZBNUpZSTgzc3c0UmJJU2hFbGhhUEpUSWJ0TVU3b1hLRWNNU0dJUVU3NGJNeEpyNTJXSlYvRlZBZmlnL1RmK2dOQm5aSFA0OURpbnQ2UEw4c25xdk5vc3ZVTTNEMjdSQ01SZVhSYWtOSzM0VEVjNXZKVENyQTZKYXh0V1BlMHZpSmJCNzk5OWRUYk16akV2bnhndlZDSndyN2RSYmFnR0w0cUhKTjZpOXNKUTBoYm95MzRIVGVXdU5oSS9TektWOUVHdkE3OXhNSnJLZklGaS80V1JaNmhLWXFxbW84SERodmJzYjkvSlBCZEduQ0RORER3cmRSRlcxSityOXIrWFNHSm5xVm1WTWtya2dsc2tFRkdKZitDQWlPcmN1SlRaeDRhOFAyTjhvRlNEaG5tbjdxdUR5YnROa2UxNjkwYzVhbFl0NnFYWW44N1RjaGppUGJMdkgvSGs3M3hmdDFWWWtUSTVpZWsyZG5pQ1J2aDdlVXgxTkp2UUU3OGZ2eUo3bUh0bTVkZE5YdVMvTE54UEtoTTZpVXNRMTlEMjBCakUwZjM2RDR6ZE1oR3hENlByQ0s2Q1VPQmFwVlljaEdrc0xxcFV5S3hFZ0N2ZkMxWHRkV0VtcWZ0TFdGSytCSlhOUjNnYmVnLzBSYjhkNTBZYytjKzhzS0NldWJucDlJbXhQbjdpYWVDTS8zbWFGdU9ZYUtYREFVWjdEZGVtV1FnTVJIY0ZtNEpNNFJFWDhiaWdFbEgrT0FEb1Ewam5lVFJ4UVlxdW0zV1lNb3pUeDFnQ0pIN1ZXREhTeno2VEVXdEJXMGRwaTQxWDRkZEE1c3dHWGYxRnc1cjUrNC9mUVZBd0dzM0hsQTc5ZmNKd2FxYzdIQ3J4RDN5My9DSjRaVW4zOFZ0VStPTHlrZzZTUVVDSzdTTzU1TTJKbC82djZ4VDhuVG51TzdKVEF2akE0RnM4Wk9RZ1lnMVZEUHc1Nk14UUplNkRuL1hSTFVia0V4dm9WTFUrdzRhbmhBMER0dEc4U1dIcVZvZWdoNC9yR29oOUwvaTZObVByOUI1SUNUWURJV25ES3p5R1lMdkhvaG85QlZJYmpqamZ6RUpxNW1rQlppcmc5eEF2M0lWNmdaUFJ6WnV3OXEwMWpqVWN4cDJUNzZrSXltVTRuVWFxbDdBOGo0d25IcnV5djlpeTI5dkduNmZpNG0xZmlCdHhHbG01aEY5ejFlVVdCamFZMEU3dndDdC9QS1crcUNmNFZqTTRpRDZjRStaODluRFJnL3lIUSt0QUhQZy9hd29Kbk9OcEM2TVF3d1dtSUtXV0JjbHlrQVZOOFBKczF2blpaY0ZYOFNuOFBRTW1nTFcrRDBCejlCK3krNE9md3JlS3RRaWZnZUhlbUlZREk3WVZ6SGdnZDhLY1h4dEp5T1pFcVg4NjEwL0k5YVY4Y1kwSEsrZ25RaGw5TW4zUFFFZGlleDVIWTQwekVEN3dTd202b2pSdWxQWFFaT01Ndm5ZNUxjbVVHNllQWDBLcDB1TkFBQXNSSzRNYXpvMzNBWmxabm9OY0ZpQWJlWS9kVy9lU29VeFlQblFKYVB5TzBjQWJjN3JSdnRVNnpoUmNuVXE0VVVUejkzaWRINXhqVWVaTk5rTkU1ZXhXR1BZdmVGUVRRTEF1eS9HaUxIVzdrK05EMUJLdldkZkpTNjBoZ0o0a1hxZm0zRFV2WmpJTmdXdXpDZFh1Sml2Qm03QTBWbkh3L1hXUHEyMFlHU2Q0aFNuQUM1OGN4WWpLeXRFdDZ1cDZ5MThNOGdJME1GaGlWSVl3QmxMaGYyM0crRzROVnh0QURUamxhSFc4QmpYUHVjdlZRMmZhblNScTB2bUR1ZUxJb3Y1OEJlT2JmY2JTZitMckg3MmNvU1JETVUrWUVIanRCbjl5V0xWQVF2NjZ5QW1aQVVMK3ducmR3YVlwK1NPZ0ltWEUyN3ZvdlpjZm9VNjkxRVJDQUJEWjBLSUI5NnpHbDA5RmNlcEVYUjRUeGRGSFoxb290emxZcmpRQjEzZGpWSFhObTNwdGlaaGM5Vy9mZWFCdW5vdHA0OUVhRnRkZGZYaW1hZGdLWDBlSVdUL1YzV0Q5dE02Y2xUZDJjTURqQjdFRjRlWkxtZUxQNE1INFBSQVEzMkdJcXdPUVFTaHQ1U3p0bWFHZ0Y3T2VoaHpqR2NCQU1WS25rd0dHNEZ6OURxU3ppVGx6VWM3aXF0UGdyUXNzRFFmdUIwbHloR1h0WkEwY2MxTmNHdGZLYlYveGY1Z2NuaENWcDNOOUtDR0tJN2hEREtpMkhOejBaVUxiZ1pzRDVGWDZwOWx5cHFnUW1kMHhhemtvcyt6RVlwVGNYZnhrbDBiTHR6bGZudmswMk82eDRrbW9yZjEwQzQvTWhNM0pFdDY0V0ZmakNuKzZlV1d2VGMyZWtQUmR2SDVQZURRTWRpNk9JR2xWdWcwZkZGZ0J4YllJRGw4WGV1dUd1YXozWGE4Y0pER1BHdDFNV1k4ZENCZTY0dHYxL2QzQXZRazhGbHpEaVhWQTdaenpWbjVnbmdRVnY3TUNGSW5RaFZSWXhqV0F1UEJpb1BUeWlMR1NFelNBaUVHcm0zVlNJK0R4L1QyWEhFa1phckJ5TVdvUHdXc0RNc3hrL0RpV0QvaE4wQjdvMXhiNzExWlJ6QTJpb09xSjJqemxKdGNDdU5mcTQrTVorT0ZyclhsR3I3WHVENldMeTh0eTlXTGE3anpjWmFlbitVd00zM0l0cTRtVDdKSG8vNjcwR3lVRThXalExdVg3Z3I5b1hPdGJEaEdlTUR0VEFSaDdwMGZKYVBGajRmSGtYOGJxcWx2QWtWQzQ0akZjQzJ3YlJPNlU4bERPWEppMEw0OUlpZEpvVDYrS3c1MER4dzlnK0dUNTU4dXVlb3k3Q3kwYzdwekRmOWNzcEgvbWVHMTJUYSt2TlY1STFWb2tSOEhrc1czNU5BTnllRzBLbzFrS1ZWT2d4Qjc3K1R4WE9mK1VReU5uSVhvYlRIUW12bGl5bWU0OERBckhpVFlGamhLTVM4SmFSeFFoWHpTU3A5NTZveFVVeHkwb0hFYnQ1dDZQU3Z4NTNkWnVvblJaZWFPV2hybXoycEE1dXJOaWo3OUFQanJVdDR1TkV4VUpOTEpCNEFib2ZKWjlIM3lzOERxWVBvdVdoUXY0MWFLSVY2Ky9IbjZVMlFOa29LS1FaTnlQZEdKeG40dzRVdXFJV2pyREc4cm9UT1RvYjEzcGRRRFJiQWh2dXN6Z044Rk5yYnBEZ2RBUXVrVjhveWlYbzRjOENuektiSVlLdHRMSStKQUh1RnR1eDl0ZnJ2aE5hNnM5dzBOdUovU2dKN0tvSUhoU2xnRnRsbHZwVDdoS01jS2NFSjdjSFR6b2tTRG1EbnNQYkVjQzNLOXJkVXVKMG9qUnc2SjhYTlE5R2tEMHQ5SUxvZTVCVzJLbVNmVjdlUEJNYjNiakx1alNUbC9xVDJjV212eFlqWTg2bGJHeW55V2xVbWtTN1c3RXFhajY0STdmYk9UWEZtQTBoRDFIQ2RJeEhYNjdZV2h0OVp6aHArSlZjMS9Cd2d2Mzd3QjhSR0JKSGtxUnpSNUxBNXIvZ0VSTFlISWJZNzJEV0ozcUlDSkhBVklRWFo3L0NzK2hhK1FOaVRVaUtMZERTeld4QS96Z29uOUtNRDJTTGlNeTB2NUpPb3RPSW1zSkROdzNMY2N2c3FtcGlYRUtNWm81OVZTRW5mMXZFN1R3eUI1NU9NQVM2dWh0NGM3b1VUWUd4ZjJDQUVDY2RzV3pzWnVSTldUOEpyR3Z6VHV0YVNKbk92cnpQTXdoV09RbEFsV3MvNll6M0NjaU83ZXZvZll5cHR0Qjk2Mzl4c1dSbnY2blJGRW1EY0JCdkE1bXhCTXY2UWgrd1NzcDd4UXVCNXpGTTd6bnp3VU5VN08yKzBmUGhqcnNBY2VYT3NVWWNhVmpmYU9aQTl3VGVpTFdoY2lHaXloZ003VXNJZmdoRm5aMnh6bDQ5cHZPdDJyUzlDWDZKYkZxQXY1OFMvSklYMCtybk50VlpmSGJhYmRqN3pkWDY4bXkzWStybUFZN1kvYlNudDJpMHZrL05zeXYxWlo4SU9Ed01RckhSQytYdU0vakFOandjOGdCUUxFUzZNSXlMVHRFL0lDS0p0VEVMcDB0SU9uUVR3aGhEd3lFT0tPU2NoK1k0ZlRiOTlHMzYxcEFPaTVnYnBBMFYxd3Ixb1l1eFNzZTFPZHBwKzlJNXBLRnNoUkRvenJLYzQyNXh3MXcvOGRIeXNNbTNaU1VzV3NIUkFJcjR3cllZaHF2aW1GeWJ2RjQ3cVFLMEQrcG1MNnUvSmJ4ME5JUG11TW94TEhSZTdDcENiZVQ0ZUVZTktwVnVBc1hWNGwxNnBxeVZuVGVmTWRTdngxbklDVTlQNGJkenlVOEI1K0pOTWlhekVvUDhxVW5iM1lyVFYyem00dnhUZ1c5UkF0bk81YVdwVFFYRnhyamgrWU9CSFI3N2FoT1FsaDhpeVNaUFkxeUxqWWVRQytibnlacWFkWjRkaWhDWGcxZ0RPZkFmc1BTRFVLM0FSbFhsOWFyWXVvUy95ZFZlazhDNG1IZjNXTnJyR2xHc255SjYwcDZHYVJXM1NtQURyVkFmMVQvcVVTRm5NOVZxai9QaUVEKzZ2aFNrOU1NMUltUHpaZEE0K2JYYkg0UUI1cFh5cVE1dVI5dGEzdUt3THVuTWhla2VTc2JhOVRsVW4zUkc5Y3VqTjN2ZVZncUc3QzhFWW53SEFnU0pYV2toWFNXeUQycCszWHNxSitKbEdXbC9zSSs3aW5xMWg0bG5tM1piQjFXcjdHWWg4dVdiVndVK1AzSnRoNUhONWRuUk45NFhSTnlFV0ZOUXpTZWFLM21TcURUeCtBdVhEVTl0STBaWnBNSi9JQndVbnRDaXE0aHk2SWI0NHdBNmovNkRlTlJSTzlOcUVMb0x0QTB0NlUxSnQ1ZXRQRGhOcGJ2ZVZiT3JyWTVYcFQ1dGRjOWk3VG1yc3d2eXF2VWZiNFNpT09rWllnZU0zNnc5T3RWZUtzZU50ZTZ5RTlIekg5aGQ1VFpwemEyeHJxb0xjM3c1NEdqNVEzL3BnZ1JhNzFQQ2lWSzFkcTN0enJLTTlXOHRsd0dMREFjeng3ZEhuakhVOEQ5WHdhYytQQ0dkbXZvVy9yWHlaTksrcjVoYi9HK0x4UDdqaFAyTVlmaHJCTjhhSXQzNER1ZVg1akpDTGU1Ky85UVh5ZjV0VmxuR0ZYU2FZK2FyNUd0KzlIZnJHSXZodTFxbzR1NWJCNnJvSFgzeXBPQlA2YjRSVXNKSnVKSkFrdXJBNUhRSmJHUXJSSlRBd3FTN2wrd3phUUVvRVkvNHRPN3I1SGxuUlVhZmE5RXQwcmpDcXZhVmNvSVNkTGd3eG1jR0djdHJuQ3BxYXZ3MXBmS01zVk5EM1pPOU5UZGl5S1p4T3pGTGxjanJsY2hEd3hPeFpQY1lpdkYrNnVqT29vU0VxMU9DWW0vVHhweGZIeG9mL0hQc3prODJSM2IrbVhRaDgwckMvZ0szUXhwK2RpNzdDMXoyRnhmNDd5OFpNYytVMC9ENGVTREwrT0hXZnduVkhFWkk3cTN2RWhoblU2aGh4RHhpMlpvUENQaWpyL0FJZGxOY1lxYnVJZ3IwVzNNUzZPQXZ6OGwyWEh6alB1bWF3R1ZrNmY4MFBVM05NMHRNWEUxeVhOalZ2QlpaZzhwdzhHS3Z4N09Kdzlud1RGS1hhZ2JoQUR6WDE5RUNkTTRWSUlRSkUwSWlhME5CUEJMMDQ2U2pvWVA0QjJsZEhvamFocWs2TXVWd2hpd2VnZTkwTG14NWZ1VTdPdmRIdEJZK0NqUmNUdTAxdkN4d0ZVLzZWNVdUSVF2MjV1dmxEajloNlRKa0lvR0pTRFpNNmZsV3FWQjlvRWNDeTBWMG9kYjJBb3ZuUVp0KzBvSVJ2MUZVNENEVDl1WWpZMzdKRXZJQUtkelMvbkVsckxiK0h0RDNWL2lhNHdIQUlnL3ZFWnhvbnMwNUxuOU9sUi9wNTRyZEUzeTJUN21EOC9LZDl1cEFvZ3VWdlRMUjRuK0U3RjU0M3NjNmczd3lKOWg5QjluWU9jSXFXQVZwV1d1TFRLRTJuQ3F3VE5XWmVvbFUvQlJSbmxQcGp2TVc3L0ZEbHkrYWxoU0ZqUHVNUnNmdHRmWDFLcXdJclZza2F1QmpvSGcyU2p1Q3BCaEpONWJBbUo2NGRIN0ZLOXFHSm02T1pmUE1ZcXZ3S2xEZnpSVzRPVWR0ZndGOG11TTYwN2lrN1ZEUUlTV3BWWERZRi9YTkxIc2pjMU5zQWxCU3JZKzk5ZnpDcG1Sb2M5S29vRG9LZ25NUmRWSWVyWW9WNDZMWUc2cUxQQkt0ZE0yL2pFYS9WOVBmMU5vdFVCWmVCbWRiNDNDeEw4N1QvS1o3c2V5MnhXNVdmRHIrUXVLQmg2V1dGM0haSnlFTG9QVHM3UDVReGhSZEQzZGdFdGRyUjhHbkNyYUwzNkFCNUhqcThuYjhxUU9GQWl6aEQ4Y2RvRkVtd1V4NHFYQVFBVlNKSjBseW5XMTZUZy9ERVZyNHVGcWhLV0F5RXpldWpmbk95S0RyNHZVaHRIYXFXQXV2TXUwMURxemlEUUJHcWhGUTkrVmo5NDNBdDRUSmovYjhkRTZscWpPSVNMT3VOQnNrNklMNnhSVHNrajZvY3E5aG52ZGR2NitheDcvQjAzVi9YQnV4Z0ovVDBxMHZiangvTVdBWnM1Q2JPOGlQNzRwaHhrUmFQUnJOZTd0ckkxTFJPL3lGY2thdGMxa3krYUNiL1NQQ2UrTlRCVmxVMDZ4aWF3MnlyV214a1c5dFhPTll0NEpYbWJ0bFVSMVphN0hnM0wzZXkzSVcwWW9yU0ErSzNza2lNczFRTStFb0QvVUZNUWpYbDhBaTBmT2JYTTEwcWRpWDZoaCt0NzY1cUZnQ3c2RHlIWldCOUxVWkFRSzN5TWREZHh3OEJJNUNwS2pZWVdlVmZrRlVKcEZXdXE1TWhwcWNRZjF5d1ZuMHFuK0t2ZjZEZW9pQlRPOVhsVS9wUllCNmcvNUxEOWg2K1htMC9HemQvUFV0TnBtT0JzSkwwS1pnSHg0ejRXQ0VkWHpNanByUEh0VC9FWnBqRWU4U2xZVmhiRGNOWE9FRllITndJMjBTRHkvbCtBM2xaeEZVZWdTV3F4TkN6RlJjSnQ2SUdtNGYxTWRHelpOWUcza2JGaTBHSW1jd1BqMTBtc0Y2Q0grOGtlM0xVd29nYmhNL0ozYkIwME02ZWk0RVA1bjlDeW9GbS9nNjArdWZPbzBVWGdXZFlGK0YzR0pVc3pXWGRHTG5IUzZ6bUxvWDY1dE1hRHk2bWZnRlFVbHF5ck1XT2VQSjN5cmpXZkhyY2lxVkllUkZZUXgwdnN5OW5OTVg3ektaTTE2SFEzSHE4Nm1ZNyttcGpsYVFEQ3F4ZkdoS3VBZTBjUWFWdTlQY0tZMjhLbGd2NEpjVnBUNVlJdnhxMmpCUllXQ2QxdVJ2clhudzJ1WDFFTGN2cGhockhlY1c0NU5rK3l6eUx3ZXJNMjRVKzk5cUlNc3BHK3E1eFRoNTV3UWEyYnVSY1UrOFd2Wlh0WHRSblQ0L1h6QngzZzJTRG5FeEJDeitMTmcya0dRMFhBV0hua2c5NDYrUW5HQ2YwQjBNcEtRSWc4SGxZYjR1SlhlZG9DR1ZVajR6NzdTcVRFSFZJWXNVZlNNZ1BkMVJUeXFLa1BjWHp5WXpPYzh6YVcycEV0aXVnRFBKR3k0U1dHbzNLOWQ4SUVHdkhwUWZSaTJjNFk5QWdjRHFNOTJ3TlRJMzhzcmtGUCtaS0s4M0trYmdob05mQU1KU0VhSDVPNFIyb2tvaWxqUy93ZDNNRnU4UEo4QkZENFhCUURxL3ZQQVhVRFZaS01NNWl6OFN3aUlsdzdYdzJvMVlxZlNiclZLRW5vSjZBL0ZtM0ZsKy91dFZOcUZjNEN2Y0lmcE51dW9RQzFGZWRHZ2NOT05JWVArOFZZTjNHcVgyeW5Pc2tpM3V3bUUwWW1hUTNDdUhwTEJhcVF4eXVrNWhybE1oeDhDWU5YdkVFREV6R3U4RVRlYnZXWnpIbjV6c1RId3RSSVI4eHdaY09hd1JjbUl5Zm5BdXJ0RTc3MERRMm8ydklXc3pEb1pLQTlhTms3VUswU2ZtQ25JU0tDTk9Mb0l6eGZZeE9WenowSWNOSGhSalIxK2Vid3E2YTNDODJIbEhaUUk5VEJGYll1SnNzaEdkWmR4bSsrWS92RHF0WWFoTFlGaGlOcVBUbHlJZzlnc2M4TWRGancrSVNudGxRZ1RIQ2VNRWk4bGVteHJNc213b0dEWVlsWUhXRWlZS1FqRmx2SEFTUUdOY0pTMUVmQWw0TW9WSENCeHhGNnFubXExVnQ2NHMrREQ0ZFcycUdUVGw2NjlYam5uVU5DVzZSMHlIbjZ3d3NQTnVNeG5Xcm96d051bVBQbGxYd2ZOdGNhOHdlQkZtWWhqN0MvbUZqa3Y5TkdhbVlaTDJkL2dFTmVqV1UvL1BYc1cwV1Y4MzhpMzZxS2lBOFk0dVRhalVHYXo5VFlkTFlLdWRERmFWNXQvTFhNUUNuS1g2YkhsQlhxem9GZ0thOFR1QTd2Nm96SjcwOWJzQWNWQzhFM0pwRnM4eVpJaWhTWWxEVlNxbC9COUVkNzkyZzB1VmtXRDJ1VWZaZnErdVcrY3JRWVZNbTl1OTk5K3UyQ2REVVlNRS9TbUYyV1lMemk2NElrRURId0NjZVU3VW01K1hqdTFGdDV0L2l3OEJEU1d3UVViZUNCdWxJcVhYSWZBbERWUWFXSklIdEFmMDRCcVlNcFVuVW1IQTdBVW9hVlpqTnYxd1ZjSWVDSEZ4OGxMdnF6V3I4YlZ6VjdGOVhtN1Q5ZFAwQnRHdlVvTkFxWktSMG5PdFV2QVRia05xYUtXNnhtS0gwQnRzV3dNQnZ5R0d1clVFSmsvc1A0cUlZcWpoVGwyRTduSlFhVXU2cy9pd1pwemZJRnlGRWRLQ1p2T2ZzdnRRZy9FOXhaL1NtM0hxUHROQ1BlcEs0Y0lTRkh5dWI4S28vVWxwbDFYNEsrWnM4NnJYMEVScmRUcHF1MmVMNHFPaW02WnRuZG5ESWV2Ukl5enN1Y0ljemJNeE5qcWUxRjJQalR6Y2FjamQ3WDlSdHB0bTRZdE5mcCtyTmthcXZwN3o5TW94TXpFOFVDT2FOL1FzS2l6TndoQzd1OWVJSEhRbVdsYUk0bGhBeHVnQmxBeEdYM2ZXZWl4cVNNc2VMZFJVNVorZGNUQ2hjcDJuMTc2TzZVbUxUd3R0VDVYeGxQS1UvNHY2RmZHVzZZT3MvSFBZd0ZOQnZUMnUySWI5Z2czeDluSnNUTEEwY1V0U2paVTBIN1E0SHBZUUpsQWpqQjd0dmxWNmJpUXFCaHNUQmNDZmVhQ2lic28yRnZRNzdLd2RzcktzR2RtZDlRZXZ1VTUxSkdwK1NxeDBUM3I3Z0toSXVCYzh4bUtzS3d2TzhKYVZITTB3aUM1dG9ZYjZVTm5jbmQ1VEFnUmhLaHBYK1BNRS9RQmhpZEZKR2N5WGcrOVkrWTd1YnpraFJEUkZpTGVENkhUYUN2NVljemxjTFJ5SUtPRXYvRlZjdjV3WmFiRFpCbVVlRXl1MFNHQm5wTmF2YkZWd252Z2xxem1DRTk1N2hEbFI2N3Y3R3pzb3Bpa2pGL3U3RjlYOWNFcHdldTJJcG00SmN0MVFycmF3NGoyZVp1ampRL1dxSEM0ZzcycG9HREkwTXNjZUVQMzF0ckpGVTNQWGtKT1R3YWVvRFBqbmd1VjVNL0dmWVdKRjZkcHUyaFJ2djR2RzhycmdDMlZCNVBxa0xnbk1UVHp4cVBlUmVHS3lWYTZlZXBuL0l1R1FlTEgrclVaUkFIcmg3NnFreXY2c0U4cUROLy93NEs4ai9tQ3NjeVV3dWJmU1JPS2hGNE82NlVQbytXNSs4eHdaUFBwQW1xRUY2ZStWUWlVSXk3VlF4ZStYRnJvOVRSK1hPemVHbFYzNVJxRDhzMEFEcHhtOEM4QmdkbUQ4Kzk0dk0xWFZWMmZwcGw5YXZzSi9jR1gvY1hXVzFtSzY2ZkhxMHJRRUZ2RkpBZ3VWd0Y1amFDMWUvZDBTMkI3aXRhbVdDMHR2d3N0YVV4T2tmOEJDT2xCVndvaHR3VitqT1BOREgwUU52ZFJyOVZVTHZCRnpDU3lCRXZqR1lPSFV6WVBOQnRjMGJrVGtPMXBvZmZ3aXdIcVJGV01hcUI3ZmV5TjhTWTVHeXFheFQwQnZ6RURkeGRMT1VyTWJoZWxIMi9sdlJyMnBUNkpIdFVyN29qRG1DUU9LcjhxS0tqRGVKTE9aWWVWNThnRjZ0U2lsOXd3YnRVczhDRy92enU2Vlo3VUR5OC9FcHFKaVJCaEpEVHJDZmoxckFDb0EycW5XNHltRUhkUENZNnoyTm1ZdDd0YWVHN2lBc3oyUFgwbk45VDVBbktwUDRjTzc2blByRDNKR1ZSdFh3YWxuOE1malFuWEV6MEJwbXRBSVlISko2d2kyRkNDRS9lVVYzbzRkcFlBekVpdEs5eDA1czRsWUMwVW82VnFPdnQ1VTU3aVNOSzN2eVcxcCtNUGJLa01mclJ3c0k1Q3FBeTQ0eWQ3NmZFYm1aNzJQRzY5RGg5RktPQVovSFFvTTVxSXlDVWNBbXdIVXdpWlRYd082S29GcEVpeUVLT2dEQjZVS25SbGNmc1JZOHdHalBDWU9pUTN3bDhIMGZEeXhLWHhPSHdHVmNvbnE1eGQ0WXRQcGxxL3pEazV4WVhYWnh3K1lIZE83bm5tdTFyZGtIODJVUnJaWHREWnpydGZWdUZUQjg3aVhFb0pTODF0R3FibEhxRlNvMS8xZG1QOVVPK2ZxT3Vyczc2aXlueW9pN0N2ZVZJdzgvYjBWYTR1MHhFOUdSTHo4eEJmd3M0eGIxYy9WWkJuRC9qWGF4dEFMZm53ZHFCeE01Q2ZQRWh5RWx0QVkwUGJzQzQ3QytqQkFUS21TYXNRaGkzdG9QY0srdW1EV1pqWWlIS0VPeFF6U3RlZm9pb1I1UkVjbHZ6Z2V6K2hFWngya0JjQjNMRUxEdHVhZHFqOWdDWHVldnJKMlBaWjVuWWhzYURHWktUYS83dU9Pdk9sUllUcEJEcW9vaWpqWm5FQ2RUVVZHRHBQdFk3SnY5b1lvZEU2ZGpCQmQ3U3pvRFRGK2lyUk1LZVpNM1N3eU5CNjE2YXcxMGlxTGhQL0s1VzhUTmMzNWQ0T0toQWxpdS9CMlMxOWVTMzFDTytFUDZUdzMrM2I3MnJOemVGM2ZxeDdBaFpvenNXTVhBek9xblpNOFgzNCtXNU8yNnhLdUpzMEsvV3A1dm8wMTA3MzJYbUFuM0NLcWFxYjlMZlFMQXd4WWxBSEdQZDhxNDU0cDd1UjF2RXNrd0hqV281cjg0OXducTRiV0RjNlUwZXkrVjFNZTVhaXM3L3hqSnViKzgrYWZ0QTRmRVFScXRsd0x1UTN3NC9ZWXFvUWNwYktCcjFIN2VWYnZQazVTVFB4OUdrY25JMk5tcU1kaWtHNS9YdDdWTldlOTFESWFVN3lRYW8raFk0NG5WZXA2YnpBTWJaMkY3UzRhSGs0eFduaTI0SXBRZlpxQlFjMmI4U3RGVloydUxVcW9PYkV0WVZ3cWdodzFjRkUrb0lQWEdGdWtON2gwSE5qR1lPY3JyL2IwTFBpamw4aDU2YTA4ZjBLYkZWL0x6ei8xVVlmQUxXVm5rTk5Xa3FsVXBraGdZa1VmQ2N6NWdVQlphaDJaanNjbHNLK1BWajhoemVxckRFOFcxSHFtN2o1dDRCbjNZMk1QZUtQeTdGU3VjNlhpMXdDdlhGTU05WXZoQzl6bmJqTm03ckpsVWMxYTRmdjM4UzVkYldNNmtmRzA3amt5WGUrL2ZIU2RxRUNzSlF3RkhKc0VIdmhUMEdvdC9qRFFsc3NJMzFpQXUwSk03V1R4VHVGcDBHK0lxSVE3ZFVwcUx0ZEdCRGFFY1YvZGkxV09ZUDRBTWRtLzYya2pMeDYrMWFMWDc1WTJlK2wrR0puSk1YUFQxYXYwK2ZvM3phenRrWEZqaVVtaWZkSEs1VWRmanpkN215TExCMGM5VXlKT3RobHRnSm8xaFZUM25kY1BlMjVlcTZ0WnVIS3Y1M3AwTWMzbHMyR2l2M2h0SHorcWhYWTc4b3AwMlovOFYyZXRLcG4vSDFCTEFRSVVBeFFBQUFBSUFJK3VlRm5FdVBIZXF3RUFBUGdEQUFBTUFBa0FBQUFBQUFBQUFBQzJnUUFBQUFCa2IyTjFiV1Z1ZEM1NGJXeFZWQVVBQjU4dlEyZFFTd0VDRkFNVUFBQUFDQUNQcm5oWnpPVGMrbndXQUFCOVN3RUFEd0FKQUFBQUFBQUFBQUFBdG9IVkFRQUFjR0ZuWlhNdmNHRm5aVEV1ZUcxc1ZWUUZBQWVmTDBOblVFc0JBaFFERkFBQUFBZ0FqNjU0V1NUdzIvZzZBQUFBT2dBQUFBNEFDUUFBQUFBQUFBQUFBTGFCZmhnQUFISmxiSE12WDNKbGJITXVlRzFzVlZRRkFBZWZMME5uVUVzQkFoUURGQUFBQUFnQWo2NTRXU1R3Mi9nNkFBQUFPZ0FBQUJNQUNRQUFBQUFBQUFBQUFMYUI1QmdBQUhKbGJITXZjR0ZuWlRGZmNtVnNjeTU0Yld4VlZBVUFCNTh2UTJkUVN3RUNGQU1VQUFBQUNBQ1BybmhaUWdrNjc2OERBQUJqSHdBQUNRQUpBQUFBQUFBQUFBQUF0b0ZQR1FBQWRHaGxiV1V1ZUcxc1ZWUUZBQWVmTDBOblVFc0JBaFFERkFBQUFBZ0FqNjU0V2JaQjRTWUhId0FBNHlBQUFBNEFDUUFBQUFBQUFBQUFBTGFCSlIwQUFIUm9kVzFpYm1GcGJDNXFjR1ZuVlZRRkFBZWZMME5uVUVzRkJnQUFBQUFHQUFZQW5RRUFBRmc4QUFBQUFBPT0iLAoJIkZpbGVOYW1lIiA6ICLnu5jlm74xKDIpLmVkZHgiCn0K"/>
    </extobj>
  </extobjs>
</s:customData>
</file>

<file path=customXml/itemProps69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1029</Words>
  <Application>WPS 演示</Application>
  <PresentationFormat>宽屏</PresentationFormat>
  <Paragraphs>46</Paragraphs>
  <Slides>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微软雅黑</vt:lpstr>
      <vt:lpstr>黑体</vt:lpstr>
      <vt:lpstr>Arial Unicode MS</vt:lpstr>
      <vt:lpstr>Calibri</vt:lpstr>
      <vt:lpstr>WPS</vt:lpstr>
      <vt:lpstr>混合加点准则——加权组合策略</vt:lpstr>
      <vt:lpstr>混合加点准则——分阶段策略</vt:lpstr>
      <vt:lpstr>混合加点准则——独立生成采样点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吴溜</cp:lastModifiedBy>
  <cp:revision>156</cp:revision>
  <dcterms:created xsi:type="dcterms:W3CDTF">2019-06-19T02:08:00Z</dcterms:created>
  <dcterms:modified xsi:type="dcterms:W3CDTF">2024-11-24T13:54:02Z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2052-12.1.0.18912</vt:lpwstr>
  </property>
  <property fmtid="{D5CDD505-2E9C-101B-9397-08002B2CF9AE}" pid="3" name="ICV">
    <vt:lpwstr>7E38732FC9B040AD9065789EC76735C6_11</vt:lpwstr>
  </property>
</Properties>
</file>